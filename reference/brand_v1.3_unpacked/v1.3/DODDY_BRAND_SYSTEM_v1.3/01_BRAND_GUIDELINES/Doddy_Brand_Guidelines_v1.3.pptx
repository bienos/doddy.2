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0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17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25.png"/><Relationship Id="rId6" Type="http://schemas.openxmlformats.org/officeDocument/2006/relationships/image" Target="../media/image22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3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23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5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66928"/>
            <a:ext cx="7315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6A00"/>
                </a:solidFill>
                <a:latin typeface="Inter"/>
              </a:defRPr>
            </a:pPr>
            <a:r>
              <a:t>BRAND GUIDELINES  /  V1.3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53896"/>
            <a:ext cx="6583680" cy="1234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8900" b="1">
                <a:solidFill>
                  <a:srgbClr val="FFFFFF"/>
                </a:solidFill>
                <a:latin typeface="Lobster Two"/>
              </a:defRPr>
            </a:pPr>
            <a:r>
              <a:t>Doddy.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" y="2788920"/>
            <a:ext cx="3840480" cy="128016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218688"/>
            <a:ext cx="640080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FFFFFF"/>
                </a:solidFill>
                <a:latin typeface="Inter"/>
              </a:defRPr>
            </a:pPr>
            <a:r>
              <a:t>Your mate in your pocket.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87368"/>
            <a:ext cx="630936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D0D2D6"/>
                </a:solidFill>
                <a:latin typeface="Inter"/>
              </a:defRPr>
            </a:pPr>
            <a:r>
              <a:t>A complete character-led identity system for product, content and motion.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25896"/>
            <a:ext cx="3657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B7BBC1"/>
                </a:solidFill>
                <a:latin typeface="Inter"/>
              </a:defRPr>
            </a:pPr>
            <a:r>
              <a:t>08 OCTOBER 2026  /  PRODUCTION DRAFT</a:t>
            </a:r>
          </a:p>
        </p:txBody>
      </p:sp>
      <p:pic>
        <p:nvPicPr>
          <p:cNvPr id="10" name="Picture 9" descr="doddy_master_front_dark_adap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4888" y="630935"/>
            <a:ext cx="4754880" cy="57058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A companion with a point of 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A useful product with a recognisable character, not a generic AI face.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349240" cy="33832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212848"/>
            <a:ext cx="4937759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111115"/>
                </a:solidFill>
                <a:latin typeface="Inter"/>
              </a:defRPr>
            </a:pPr>
            <a:r>
              <a:t>THE 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724912"/>
            <a:ext cx="4937759" cy="2578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67676B"/>
                </a:solidFill>
                <a:latin typeface="Inter"/>
              </a:defRPr>
            </a:pPr>
            <a:r>
              <a:t>A conversational personal companion designed to help people think, remember, find answers and act on things.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17336" y="2011680"/>
            <a:ext cx="5486400" cy="33832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2212848"/>
            <a:ext cx="50749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111115"/>
                </a:solidFill>
                <a:latin typeface="Inter"/>
              </a:defRPr>
            </a:pPr>
            <a:r>
              <a:t>THE CHARACTER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724912"/>
            <a:ext cx="5074920" cy="2578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67676B"/>
                </a:solidFill>
                <a:latin typeface="Inter"/>
              </a:defRPr>
            </a:pPr>
            <a:r>
              <a:t>A distinct, human-feeling editorial cartoon who makes assistance approachable without pretending to be human.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5760720"/>
            <a:ext cx="109728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A44200"/>
                </a:solidFill>
                <a:latin typeface="Inter"/>
              </a:defRPr>
            </a:pPr>
            <a:r>
              <a:t>ROLE OF BRAND  →  BUILD FAMILIARITY. EARN TRUST. MAKE UTILITY FEEL PERSONAL.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Brand 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Every layer should feel like the same Doddy.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5376672" cy="1783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167128"/>
            <a:ext cx="4965192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11115"/>
                </a:solidFill>
                <a:latin typeface="Inter"/>
              </a:defRPr>
            </a:pPr>
            <a:r>
              <a:t>FRIENDLY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679191"/>
            <a:ext cx="4965192" cy="9784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67676B"/>
                </a:solidFill>
                <a:latin typeface="Inter"/>
              </a:defRPr>
            </a:pPr>
            <a:r>
              <a:t>Talks naturally, without fake enthusiasm.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965960"/>
            <a:ext cx="5376672" cy="1783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2167128"/>
            <a:ext cx="4965192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11115"/>
                </a:solidFill>
                <a:latin typeface="Inter"/>
              </a:defRPr>
            </a:pPr>
            <a:r>
              <a:t>CAPABLE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2679191"/>
            <a:ext cx="4965192" cy="9784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67676B"/>
                </a:solidFill>
                <a:latin typeface="Inter"/>
              </a:defRPr>
            </a:pPr>
            <a:r>
              <a:t>Takes tasks seriously and communicates results clearly.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22776"/>
            <a:ext cx="5376672" cy="1783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4123944"/>
            <a:ext cx="4965192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11115"/>
                </a:solidFill>
                <a:latin typeface="Inter"/>
              </a:defRPr>
            </a:pPr>
            <a:r>
              <a:t>PLAYFUL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4636008"/>
            <a:ext cx="4965192" cy="9784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67676B"/>
                </a:solidFill>
                <a:latin typeface="Inter"/>
              </a:defRPr>
            </a:pPr>
            <a:r>
              <a:t>Uses motion and humour as punctuation.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922776"/>
            <a:ext cx="5376672" cy="1783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4123944"/>
            <a:ext cx="4965192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11115"/>
                </a:solidFill>
                <a:latin typeface="Inter"/>
              </a:defRPr>
            </a:pPr>
            <a:r>
              <a:t>RELIABLE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4636008"/>
            <a:ext cx="4965192" cy="9784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67676B"/>
                </a:solidFill>
                <a:latin typeface="Inter"/>
              </a:defRPr>
            </a:pPr>
            <a:r>
              <a:t>Makes limits, permissions and outcomes explicit.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6A00"/>
                </a:solidFill>
                <a:latin typeface="Inter"/>
              </a:defRPr>
            </a:pPr>
            <a:r>
              <a:t>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FFFFFF"/>
                </a:solidFill>
                <a:latin typeface="Inter"/>
              </a:defRPr>
            </a:pPr>
            <a:r>
              <a:t>Character first. Utility always.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D2D3D5"/>
                </a:solidFill>
                <a:latin typeface="Inter"/>
              </a:defRPr>
            </a:pPr>
            <a:r>
              <a:t>The character invites attention. The product earns repeat 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FFFFFF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21408"/>
            <a:ext cx="2761488" cy="2331720"/>
          </a:xfrm>
          <a:prstGeom prst="roundRect">
            <a:avLst>
              <a:gd name="adj" fmla="val 14000"/>
            </a:avLst>
          </a:prstGeom>
          <a:solidFill>
            <a:srgbClr val="27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322576"/>
            <a:ext cx="235000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  <a:latin typeface="Inter"/>
              </a:defRPr>
            </a:pPr>
            <a:r>
              <a:t>01  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834639"/>
            <a:ext cx="2350008" cy="1527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D3D4D6"/>
                </a:solidFill>
                <a:latin typeface="Inter"/>
              </a:defRPr>
            </a:pPr>
            <a:r>
              <a:t>Short-form stories, visual humour, everyday moments.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2121408"/>
            <a:ext cx="2761488" cy="2331720"/>
          </a:xfrm>
          <a:prstGeom prst="roundRect">
            <a:avLst>
              <a:gd name="adj" fmla="val 14000"/>
            </a:avLst>
          </a:prstGeom>
          <a:solidFill>
            <a:srgbClr val="27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79" y="2322576"/>
            <a:ext cx="235000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  <a:latin typeface="Inter"/>
              </a:defRPr>
            </a:pPr>
            <a:r>
              <a:t>02  CONNECT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79" y="2834639"/>
            <a:ext cx="2350008" cy="1527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D3D4D6"/>
                </a:solidFill>
                <a:latin typeface="Inter"/>
              </a:defRPr>
            </a:pPr>
            <a:r>
              <a:t>People recognise the face, voice and behaviour.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0216" y="2121408"/>
            <a:ext cx="2761488" cy="2331720"/>
          </a:xfrm>
          <a:prstGeom prst="roundRect">
            <a:avLst>
              <a:gd name="adj" fmla="val 14000"/>
            </a:avLst>
          </a:prstGeom>
          <a:solidFill>
            <a:srgbClr val="27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2322576"/>
            <a:ext cx="235000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  <a:latin typeface="Inter"/>
              </a:defRPr>
            </a:pPr>
            <a:r>
              <a:t>03  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834639"/>
            <a:ext cx="2350008" cy="1527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D3D4D6"/>
                </a:solidFill>
                <a:latin typeface="Inter"/>
              </a:defRPr>
            </a:pPr>
            <a:r>
              <a:t>A clear entry point to voice, translation or help.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98864" y="2121408"/>
            <a:ext cx="2761488" cy="2331720"/>
          </a:xfrm>
          <a:prstGeom prst="roundRect">
            <a:avLst>
              <a:gd name="adj" fmla="val 14000"/>
            </a:avLst>
          </a:prstGeom>
          <a:solidFill>
            <a:srgbClr val="27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9176" y="2322576"/>
            <a:ext cx="235000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  <a:latin typeface="Inter"/>
              </a:defRPr>
            </a:pPr>
            <a:r>
              <a:t>04 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9176" y="2834639"/>
            <a:ext cx="2350008" cy="1527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D3D4D6"/>
                </a:solidFill>
                <a:latin typeface="Inter"/>
              </a:defRPr>
            </a:pPr>
            <a:r>
              <a:t>Relevant utility, privacy and trust create habit.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5102352"/>
            <a:ext cx="1078992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Inter"/>
              </a:defRPr>
            </a:pPr>
            <a:r>
              <a:t>No animated character can substitute for a useful product.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PERSONALITY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The right kind of cheeky.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Not a corporate voice. Not a childish character. Not a know-it-all.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2011680"/>
            <a:ext cx="5330952" cy="3200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212848"/>
            <a:ext cx="4919472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111115"/>
                </a:solidFill>
                <a:latin typeface="Inter"/>
              </a:defRPr>
            </a:pPr>
            <a:r>
              <a:t>ALWAYS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724912"/>
            <a:ext cx="4919472" cy="2395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67676B"/>
                </a:solidFill>
                <a:latin typeface="Inter"/>
              </a:defRPr>
            </a:pPr>
            <a:r>
              <a:t>Clear, curious, conversational, helpful, honest about what has and has not happened.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2011680"/>
            <a:ext cx="5394960" cy="3200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12848"/>
            <a:ext cx="498348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111115"/>
                </a:solidFill>
                <a:latin typeface="Inter"/>
              </a:defRPr>
            </a:pPr>
            <a:r>
              <a:t>NEVER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724912"/>
            <a:ext cx="4983480" cy="2395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67676B"/>
                </a:solidFill>
                <a:latin typeface="Inter"/>
              </a:defRPr>
            </a:pPr>
            <a:r>
              <a:t>Patronising, misleading, emotionally manipulative, over-familiar, or flippant about serious subjects.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CREATIVE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The controlled imperfection.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The look is built from tension between ink spontaneity and interface discipline.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5349240" cy="1783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167128"/>
            <a:ext cx="4937759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111115"/>
                </a:solidFill>
                <a:latin typeface="Inter"/>
              </a:defRPr>
            </a:pPr>
            <a:r>
              <a:t>BLACK 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679191"/>
            <a:ext cx="4937759" cy="9784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Handmade; iconic; high-contrast.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965960"/>
            <a:ext cx="5349240" cy="1783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2167128"/>
            <a:ext cx="4937759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111115"/>
                </a:solidFill>
                <a:latin typeface="Inter"/>
              </a:defRPr>
            </a:pPr>
            <a:r>
              <a:t>ORANGE 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2679191"/>
            <a:ext cx="4937759" cy="9784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Energy, presence, intent; used selectively.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31920"/>
            <a:ext cx="5349240" cy="1783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4133087"/>
            <a:ext cx="4937759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111115"/>
                </a:solidFill>
                <a:latin typeface="Inter"/>
              </a:defRPr>
            </a:pPr>
            <a:r>
              <a:t>WARM PAPER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4645152"/>
            <a:ext cx="4937759" cy="9784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Editorial and approachable.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931920"/>
            <a:ext cx="5349240" cy="1783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4133087"/>
            <a:ext cx="4937759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111115"/>
                </a:solidFill>
                <a:latin typeface="Inter"/>
              </a:defRPr>
            </a:pPr>
            <a:r>
              <a:t>STRUCTURED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4645152"/>
            <a:ext cx="4937759" cy="9784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Readable, predictable where it matters.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448056"/>
            <a:ext cx="548640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6A00"/>
                </a:solidFill>
                <a:latin typeface="Inter"/>
              </a:defRPr>
            </a:pPr>
            <a:r>
              <a:t>DODDY  /  BRAND SYSTEM v1.3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020824"/>
            <a:ext cx="164592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6700" b="1">
                <a:solidFill>
                  <a:srgbClr val="FF6A00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3008376"/>
            <a:ext cx="1005840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5900" b="1">
                <a:solidFill>
                  <a:srgbClr val="FFFFFF"/>
                </a:solidFill>
                <a:latin typeface="Inter"/>
              </a:defRPr>
            </a:pPr>
            <a:r>
              <a:t>Character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4050791"/>
            <a:ext cx="914400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D9D9DB"/>
                </a:solidFill>
                <a:latin typeface="Inter"/>
              </a:defRPr>
            </a:pPr>
            <a:r>
              <a:t>Recognisable in one stroke. Flexible in a thousand moments.</a:t>
            </a:r>
          </a:p>
        </p:txBody>
      </p:sp>
      <p:pic>
        <p:nvPicPr>
          <p:cNvPr id="7" name="Picture 6" descr="doddy_master_front_dark_adap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7112" y="1113739"/>
            <a:ext cx="2944368" cy="35332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CHARACTER / 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One face. One body language.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The source SVG, not a screenshot, is the canonical character reference.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901952"/>
            <a:ext cx="4754880" cy="443484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oddy_master_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" y="1965960"/>
            <a:ext cx="3520440" cy="422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50992" y="1892807"/>
            <a:ext cx="141732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A44200"/>
                </a:solidFill>
                <a:latin typeface="Inter"/>
              </a:defRPr>
            </a:pPr>
            <a:r>
              <a:t>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76872" y="1874519"/>
            <a:ext cx="457200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111115"/>
                </a:solidFill>
                <a:latin typeface="Inter"/>
              </a:defRPr>
            </a:pPr>
            <a:r>
              <a:t>Round, oversized and expressive.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50992" y="2706624"/>
            <a:ext cx="141732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A44200"/>
                </a:solidFill>
                <a:latin typeface="Inter"/>
              </a:defRPr>
            </a:pPr>
            <a:r>
              <a:t>EYES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6872" y="2688336"/>
            <a:ext cx="457200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111115"/>
                </a:solidFill>
                <a:latin typeface="Inter"/>
              </a:defRPr>
            </a:pPr>
            <a:r>
              <a:t>Two upright black oval marks.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50992" y="3520439"/>
            <a:ext cx="141732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A44200"/>
                </a:solidFill>
                <a:latin typeface="Inter"/>
              </a:defRPr>
            </a:pPr>
            <a:r>
              <a:t>SMILE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6872" y="3502151"/>
            <a:ext cx="457200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111115"/>
                </a:solidFill>
                <a:latin typeface="Inter"/>
              </a:defRPr>
            </a:pPr>
            <a:r>
              <a:t>Slightly asymmetric ink curve.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50992" y="4334256"/>
            <a:ext cx="141732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A44200"/>
                </a:solidFill>
                <a:latin typeface="Inter"/>
              </a:defRPr>
            </a:pPr>
            <a:r>
              <a:t>BODY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6872" y="4315968"/>
            <a:ext cx="457200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111115"/>
                </a:solidFill>
                <a:latin typeface="Inter"/>
              </a:defRPr>
            </a:pPr>
            <a:r>
              <a:t>Single gestural pen strokes.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50992" y="5148072"/>
            <a:ext cx="141732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A44200"/>
                </a:solidFill>
                <a:latin typeface="Inter"/>
              </a:defRPr>
            </a:pPr>
            <a:r>
              <a:t>GEAR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72" y="5129784"/>
            <a:ext cx="457200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111115"/>
                </a:solidFill>
                <a:latin typeface="Inter"/>
              </a:defRPr>
            </a:pPr>
            <a:r>
              <a:t>Orange backpack and oversized trainers.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CHARACTER / GEOMETRY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Construction, not decoration.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Controlled proportions preserve recognition across illustration teams.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92024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11115"/>
                </a:solidFill>
                <a:latin typeface="Inter"/>
              </a:defRPr>
            </a:pPr>
            <a:r>
              <a:t>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96312" y="1874519"/>
            <a:ext cx="882396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Centre: 246,149  ·  radius: 79 (500×600 artboard)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9463"/>
            <a:ext cx="192024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11115"/>
                </a:solidFill>
                <a:latin typeface="Inter"/>
              </a:defRPr>
            </a:pPr>
            <a:r>
              <a:t>Eyes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96312" y="2569463"/>
            <a:ext cx="882396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Centres x219 / x272  ·  tall upright 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64408"/>
            <a:ext cx="192024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11115"/>
                </a:solidFill>
                <a:latin typeface="Inter"/>
              </a:defRPr>
            </a:pPr>
            <a:r>
              <a:t>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96312" y="3264408"/>
            <a:ext cx="882396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Body 10–13 units; face outline 11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59352"/>
            <a:ext cx="192024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11115"/>
                </a:solidFill>
                <a:latin typeface="Inter"/>
              </a:defRPr>
            </a:pPr>
            <a:r>
              <a:t>Torso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6312" y="3959352"/>
            <a:ext cx="882396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Neck ~245,232  ·  hip ~247,352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54296"/>
            <a:ext cx="192024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11115"/>
                </a:solidFill>
                <a:latin typeface="Inter"/>
              </a:defRPr>
            </a:pPr>
            <a:r>
              <a:t>Shoes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96312" y="4654296"/>
            <a:ext cx="882396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Deliberately oversized, white with orange panels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49240"/>
            <a:ext cx="192024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11115"/>
                </a:solidFill>
                <a:latin typeface="Inter"/>
              </a:defRPr>
            </a:pPr>
            <a:r>
              <a:t>Accent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96312" y="5349240"/>
            <a:ext cx="882396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Orange on bag, ball and editorial emphasis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CHARACTER / EXPRESSIONS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Expressions 1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Same core geometry; mood changes via eyes, mouth and limited brows.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1737360" cy="1984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ace_neu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03" y="1911095"/>
            <a:ext cx="1386464" cy="14813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9224" y="3465576"/>
            <a:ext cx="156362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11115"/>
                </a:solidFill>
                <a:latin typeface="Inter"/>
              </a:defRPr>
            </a:pPr>
            <a:r>
              <a:t>NEUTRAL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87168" y="1828800"/>
            <a:ext cx="1737360" cy="1984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ace_neu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043" y="1911095"/>
            <a:ext cx="1386464" cy="14813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69464" y="3465576"/>
            <a:ext cx="156362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11115"/>
                </a:solidFill>
                <a:latin typeface="Inter"/>
              </a:defRPr>
            </a:pPr>
            <a:r>
              <a:t>HAPPY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1828800"/>
            <a:ext cx="1737360" cy="1984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ace_exci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283" y="1911095"/>
            <a:ext cx="1386464" cy="14813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489704" y="3465576"/>
            <a:ext cx="156362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11115"/>
                </a:solidFill>
                <a:latin typeface="Inter"/>
              </a:defRPr>
            </a:pPr>
            <a:r>
              <a:t>EXCITED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828800"/>
            <a:ext cx="1737360" cy="1984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ace_curio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8523" y="1911095"/>
            <a:ext cx="1386464" cy="14813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09944" y="3465576"/>
            <a:ext cx="156362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11115"/>
                </a:solidFill>
                <a:latin typeface="Inter"/>
              </a:defRPr>
            </a:pPr>
            <a:r>
              <a:t>CURIOUS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47888" y="1828800"/>
            <a:ext cx="1737360" cy="1984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ace_confus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8763" y="1911095"/>
            <a:ext cx="1386464" cy="148132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330183" y="3465576"/>
            <a:ext cx="156362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11115"/>
                </a:solidFill>
                <a:latin typeface="Inter"/>
              </a:defRPr>
            </a:pPr>
            <a:r>
              <a:t>CONFUSED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68128" y="1828800"/>
            <a:ext cx="1737360" cy="1984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face_think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9003" y="1911095"/>
            <a:ext cx="1386464" cy="14813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250424" y="3465576"/>
            <a:ext cx="156362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11115"/>
                </a:solidFill>
                <a:latin typeface="Inter"/>
              </a:defRPr>
            </a:pPr>
            <a:r>
              <a:t>THINKING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995928"/>
            <a:ext cx="1737360" cy="1984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face_focus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803" y="4078224"/>
            <a:ext cx="1386464" cy="148132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9224" y="5632704"/>
            <a:ext cx="156362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11115"/>
                </a:solidFill>
                <a:latin typeface="Inter"/>
              </a:defRPr>
            </a:pPr>
            <a:r>
              <a:t>FOCUSED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87168" y="3995928"/>
            <a:ext cx="1737360" cy="1984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ace_exci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8043" y="4078224"/>
            <a:ext cx="1386464" cy="148132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569464" y="5632704"/>
            <a:ext cx="156362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11115"/>
                </a:solidFill>
                <a:latin typeface="Inter"/>
              </a:defRPr>
            </a:pPr>
            <a:r>
              <a:t>PROUD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07408" y="3995928"/>
            <a:ext cx="1737360" cy="1984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face_neu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8283" y="4078224"/>
            <a:ext cx="1386464" cy="148132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489704" y="5632704"/>
            <a:ext cx="156362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11115"/>
                </a:solidFill>
                <a:latin typeface="Inter"/>
              </a:defRPr>
            </a:pPr>
            <a:r>
              <a:t>RELAXED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27648" y="3995928"/>
            <a:ext cx="1737360" cy="1984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face_cheek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8523" y="4078224"/>
            <a:ext cx="1386464" cy="148132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409944" y="5632704"/>
            <a:ext cx="156362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11115"/>
                </a:solidFill>
                <a:latin typeface="Inter"/>
              </a:defRPr>
            </a:pPr>
            <a:r>
              <a:t>CHEEKY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47888" y="3995928"/>
            <a:ext cx="1737360" cy="1984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face_exci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8763" y="4078224"/>
            <a:ext cx="1386464" cy="148132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330183" y="5632704"/>
            <a:ext cx="156362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11115"/>
                </a:solidFill>
                <a:latin typeface="Inter"/>
              </a:defRPr>
            </a:pPr>
            <a:r>
              <a:t>LAUGHING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168128" y="3995928"/>
            <a:ext cx="1737360" cy="1984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face_surpris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39003" y="4078224"/>
            <a:ext cx="1386464" cy="148132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250424" y="5632704"/>
            <a:ext cx="156362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11115"/>
                </a:solidFill>
                <a:latin typeface="Inter"/>
              </a:defRPr>
            </a:pPr>
            <a:r>
              <a:t>SURPRISED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CHARACTER / EXPRESSIONS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Expressions 2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Same core geometry; mood changes via eyes, mouth and limited brows.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1737360" cy="1984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ace_concer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03" y="1911095"/>
            <a:ext cx="1386464" cy="14813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9224" y="3465576"/>
            <a:ext cx="156362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11115"/>
                </a:solidFill>
                <a:latin typeface="Inter"/>
              </a:defRPr>
            </a:pPr>
            <a:r>
              <a:t>CONCERNED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87168" y="1828800"/>
            <a:ext cx="1737360" cy="1984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ace_neut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8043" y="1911095"/>
            <a:ext cx="1386464" cy="14813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69464" y="3465576"/>
            <a:ext cx="156362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11115"/>
                </a:solidFill>
                <a:latin typeface="Inter"/>
              </a:defRPr>
            </a:pPr>
            <a:r>
              <a:t>SUPPORTIVE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1828800"/>
            <a:ext cx="1737360" cy="1984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ace_ti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283" y="1911095"/>
            <a:ext cx="1386464" cy="14813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489704" y="3465576"/>
            <a:ext cx="156362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11115"/>
                </a:solidFill>
                <a:latin typeface="Inter"/>
              </a:defRPr>
            </a:pPr>
            <a:r>
              <a:t>TIRED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828800"/>
            <a:ext cx="1737360" cy="1984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ace_excit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8523" y="1911095"/>
            <a:ext cx="1386464" cy="14813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09944" y="3465576"/>
            <a:ext cx="156362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11115"/>
                </a:solidFill>
                <a:latin typeface="Inter"/>
              </a:defRPr>
            </a:pPr>
            <a:r>
              <a:t>CELEBRATING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47888" y="1828800"/>
            <a:ext cx="1737360" cy="1984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ace_determin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8763" y="1911095"/>
            <a:ext cx="1386464" cy="148132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330183" y="3465576"/>
            <a:ext cx="156362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11115"/>
                </a:solidFill>
                <a:latin typeface="Inter"/>
              </a:defRPr>
            </a:pPr>
            <a:r>
              <a:t>DETERMINED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68128" y="1828800"/>
            <a:ext cx="1737360" cy="1984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face_sa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9003" y="1911095"/>
            <a:ext cx="1386464" cy="14813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250424" y="3465576"/>
            <a:ext cx="156362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11115"/>
                </a:solidFill>
                <a:latin typeface="Inter"/>
              </a:defRPr>
            </a:pPr>
            <a:r>
              <a:t>SAD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995928"/>
            <a:ext cx="1737360" cy="1984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face_surpris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7803" y="4078224"/>
            <a:ext cx="1386464" cy="148132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9224" y="5632704"/>
            <a:ext cx="156362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11115"/>
                </a:solidFill>
                <a:latin typeface="Inter"/>
              </a:defRPr>
            </a:pPr>
            <a:r>
              <a:t>LISTENING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87168" y="3995928"/>
            <a:ext cx="1737360" cy="1984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ace_neut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8043" y="4078224"/>
            <a:ext cx="1386464" cy="148132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569464" y="5632704"/>
            <a:ext cx="156362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11115"/>
                </a:solidFill>
                <a:latin typeface="Inter"/>
              </a:defRPr>
            </a:pPr>
            <a:r>
              <a:t>EXPLAINING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07408" y="3995928"/>
            <a:ext cx="1737360" cy="1984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face_neut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283" y="4078224"/>
            <a:ext cx="1386464" cy="148132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489704" y="5632704"/>
            <a:ext cx="156362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11115"/>
                </a:solidFill>
                <a:latin typeface="Inter"/>
              </a:defRPr>
            </a:pPr>
            <a:r>
              <a:t>IMPRESSED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27648" y="3995928"/>
            <a:ext cx="1737360" cy="1984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face_skeptic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8523" y="4078224"/>
            <a:ext cx="1386464" cy="148132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409944" y="5632704"/>
            <a:ext cx="156362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11115"/>
                </a:solidFill>
                <a:latin typeface="Inter"/>
              </a:defRPr>
            </a:pPr>
            <a:r>
              <a:t>SKEPTICAL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47888" y="3995928"/>
            <a:ext cx="1737360" cy="1984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face_embarrass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18763" y="4078224"/>
            <a:ext cx="1386464" cy="148132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330183" y="5632704"/>
            <a:ext cx="156362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11115"/>
                </a:solidFill>
                <a:latin typeface="Inter"/>
              </a:defRPr>
            </a:pPr>
            <a:r>
              <a:t>EMBARRASSED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168128" y="3995928"/>
            <a:ext cx="1737360" cy="1984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face_neut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9003" y="4078224"/>
            <a:ext cx="1386464" cy="148132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250424" y="5632704"/>
            <a:ext cx="156362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11115"/>
                </a:solidFill>
                <a:latin typeface="Inter"/>
              </a:defRPr>
            </a:pPr>
            <a:r>
              <a:t>CONFIDENT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CHARACTER / EXPRESSIONS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Expressions 3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Same core geometry; mood changes via eyes, mouth and limited brows.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1737360" cy="1984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ace_neu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03" y="1911095"/>
            <a:ext cx="1386464" cy="14813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9224" y="3465576"/>
            <a:ext cx="156362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11115"/>
                </a:solidFill>
                <a:latin typeface="Inter"/>
              </a:defRPr>
            </a:pPr>
            <a:r>
              <a:t>PLAYFUL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87168" y="1828800"/>
            <a:ext cx="1737360" cy="1984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ace_neu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043" y="1911095"/>
            <a:ext cx="1386464" cy="14813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69464" y="3465576"/>
            <a:ext cx="156362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11115"/>
                </a:solidFill>
                <a:latin typeface="Inter"/>
              </a:defRPr>
            </a:pPr>
            <a:r>
              <a:t>INTERESTED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1828800"/>
            <a:ext cx="1737360" cy="1984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ace_ti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283" y="1911095"/>
            <a:ext cx="1386464" cy="14813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489704" y="3465576"/>
            <a:ext cx="156362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11115"/>
                </a:solidFill>
                <a:latin typeface="Inter"/>
              </a:defRPr>
            </a:pPr>
            <a:r>
              <a:t>RELIEVED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828800"/>
            <a:ext cx="1737360" cy="1984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ace_neu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523" y="1911095"/>
            <a:ext cx="1386464" cy="14813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09944" y="3465576"/>
            <a:ext cx="156362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11115"/>
                </a:solidFill>
                <a:latin typeface="Inter"/>
              </a:defRPr>
            </a:pPr>
            <a:r>
              <a:t>IMPATIENT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47888" y="1828800"/>
            <a:ext cx="1737360" cy="1984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ace_neu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8763" y="1911095"/>
            <a:ext cx="1386464" cy="148132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330183" y="3465576"/>
            <a:ext cx="156362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11115"/>
                </a:solidFill>
                <a:latin typeface="Inter"/>
              </a:defRPr>
            </a:pPr>
            <a:r>
              <a:t>ENCOURAGING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68128" y="1828800"/>
            <a:ext cx="1737360" cy="1984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face_surpris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9003" y="1911095"/>
            <a:ext cx="1386464" cy="14813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250424" y="3465576"/>
            <a:ext cx="156362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11115"/>
                </a:solidFill>
                <a:latin typeface="Inter"/>
              </a:defRPr>
            </a:pPr>
            <a:r>
              <a:t>WOW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995928"/>
            <a:ext cx="1737360" cy="1984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face_cheek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803" y="4078224"/>
            <a:ext cx="1386464" cy="148132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9224" y="5632704"/>
            <a:ext cx="156362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11115"/>
                </a:solidFill>
                <a:latin typeface="Inter"/>
              </a:defRPr>
            </a:pPr>
            <a:r>
              <a:t>WINK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87168" y="3995928"/>
            <a:ext cx="1737360" cy="1984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ace_ti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8043" y="4078224"/>
            <a:ext cx="1386464" cy="148132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569464" y="5632704"/>
            <a:ext cx="156362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11115"/>
                </a:solidFill>
                <a:latin typeface="Inter"/>
              </a:defRPr>
            </a:pPr>
            <a:r>
              <a:t>ASLEEP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07408" y="3995928"/>
            <a:ext cx="1737360" cy="1984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face_embarrass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8283" y="4078224"/>
            <a:ext cx="1386464" cy="148132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489704" y="5632704"/>
            <a:ext cx="156362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11115"/>
                </a:solidFill>
                <a:latin typeface="Inter"/>
              </a:defRPr>
            </a:pPr>
            <a:r>
              <a:t>LOVE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CHARACTER / POSE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Pose library 1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Independent SVG sources for approved gesture families.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1207" y="1856231"/>
            <a:ext cx="2761488" cy="20482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oddy_pose_neu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053" y="1892807"/>
            <a:ext cx="1379220" cy="1655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" y="3529584"/>
            <a:ext cx="256032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11115"/>
                </a:solidFill>
                <a:latin typeface="Inter"/>
              </a:defRPr>
            </a:pPr>
            <a:r>
              <a:t>NEUTRAL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8144" y="1856231"/>
            <a:ext cx="2761488" cy="20482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oddy_pose_wa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0990" y="1892807"/>
            <a:ext cx="1379220" cy="16550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47872" y="3529584"/>
            <a:ext cx="256032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11115"/>
                </a:solidFill>
                <a:latin typeface="Inter"/>
              </a:defRPr>
            </a:pPr>
            <a:r>
              <a:t>WAVE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856231"/>
            <a:ext cx="2761488" cy="20482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oddy_pose_wa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7926" y="1892807"/>
            <a:ext cx="1379220" cy="16550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64808" y="3529584"/>
            <a:ext cx="256032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11115"/>
                </a:solidFill>
                <a:latin typeface="Inter"/>
              </a:defRPr>
            </a:pPr>
            <a:r>
              <a:t>HELLO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72016" y="1856231"/>
            <a:ext cx="2761488" cy="20482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oddy_pose_po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4862" y="1892807"/>
            <a:ext cx="1379220" cy="16550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381744" y="3529584"/>
            <a:ext cx="256032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11115"/>
                </a:solidFill>
                <a:latin typeface="Inter"/>
              </a:defRPr>
            </a:pPr>
            <a:r>
              <a:t>POINT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207" y="4069079"/>
            <a:ext cx="2761488" cy="20482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doddy_pose_think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4053" y="4105655"/>
            <a:ext cx="1379220" cy="165506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0936" y="5742431"/>
            <a:ext cx="256032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11115"/>
                </a:solidFill>
                <a:latin typeface="Inter"/>
              </a:defRPr>
            </a:pPr>
            <a:r>
              <a:t>THINKING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38144" y="4069079"/>
            <a:ext cx="2761488" cy="20482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doddy_pose_list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0990" y="4105655"/>
            <a:ext cx="1379220" cy="165506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547872" y="5742431"/>
            <a:ext cx="256032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11115"/>
                </a:solidFill>
                <a:latin typeface="Inter"/>
              </a:defRPr>
            </a:pPr>
            <a:r>
              <a:t>LISTEN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4069079"/>
            <a:ext cx="2761488" cy="20482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doddy_pose_tal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7926" y="4105655"/>
            <a:ext cx="1379220" cy="165506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64808" y="5742431"/>
            <a:ext cx="256032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11115"/>
                </a:solidFill>
                <a:latin typeface="Inter"/>
              </a:defRPr>
            </a:pPr>
            <a:r>
              <a:t>TALK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72016" y="4069079"/>
            <a:ext cx="2761488" cy="20482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doddy_pose_jum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44862" y="4105655"/>
            <a:ext cx="1379220" cy="165506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381744" y="5742431"/>
            <a:ext cx="256032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11115"/>
                </a:solidFill>
                <a:latin typeface="Inter"/>
              </a:defRPr>
            </a:pPr>
            <a:r>
              <a:t>JUMP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CHARACTER / POSE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Pose library 2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Independent SVG sources for approved gesture families.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1207" y="1856231"/>
            <a:ext cx="2761488" cy="20482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oddy_pose_ju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053" y="1892807"/>
            <a:ext cx="1379220" cy="1655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" y="3529584"/>
            <a:ext cx="256032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11115"/>
                </a:solidFill>
                <a:latin typeface="Inter"/>
              </a:defRPr>
            </a:pPr>
            <a:r>
              <a:t>CELEBRATE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8144" y="1856231"/>
            <a:ext cx="2761488" cy="20482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oddy_pose_wal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0990" y="1892807"/>
            <a:ext cx="1379220" cy="16550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47872" y="3529584"/>
            <a:ext cx="256032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11115"/>
                </a:solidFill>
                <a:latin typeface="Inter"/>
              </a:defRPr>
            </a:pPr>
            <a:r>
              <a:t>WALK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856231"/>
            <a:ext cx="2761488" cy="20482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oddy_pose_wal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7926" y="1892807"/>
            <a:ext cx="1379220" cy="16550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64808" y="3529584"/>
            <a:ext cx="256032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11115"/>
                </a:solidFill>
                <a:latin typeface="Inter"/>
              </a:defRPr>
            </a:pPr>
            <a:r>
              <a:t>RUN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72016" y="1856231"/>
            <a:ext cx="2761488" cy="20482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oddy_pose_s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4862" y="1892807"/>
            <a:ext cx="1379220" cy="16550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381744" y="3529584"/>
            <a:ext cx="256032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11115"/>
                </a:solidFill>
                <a:latin typeface="Inter"/>
              </a:defRPr>
            </a:pPr>
            <a:r>
              <a:t>SIT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207" y="4069079"/>
            <a:ext cx="2761488" cy="20482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doddy_pose_neutr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4053" y="4105655"/>
            <a:ext cx="1379220" cy="165506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0936" y="5742431"/>
            <a:ext cx="256032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11115"/>
                </a:solidFill>
                <a:latin typeface="Inter"/>
              </a:defRPr>
            </a:pPr>
            <a:r>
              <a:t>LEAN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38144" y="4069079"/>
            <a:ext cx="2761488" cy="20482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doddy_pose_basketba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0990" y="4105655"/>
            <a:ext cx="1379220" cy="165506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547872" y="5742431"/>
            <a:ext cx="256032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11115"/>
                </a:solidFill>
                <a:latin typeface="Inter"/>
              </a:defRPr>
            </a:pPr>
            <a:r>
              <a:t>BASKETBALL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4069079"/>
            <a:ext cx="2761488" cy="20482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doddy_pose_dribb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7926" y="4105655"/>
            <a:ext cx="1379220" cy="165506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64808" y="5742431"/>
            <a:ext cx="256032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11115"/>
                </a:solidFill>
                <a:latin typeface="Inter"/>
              </a:defRPr>
            </a:pPr>
            <a:r>
              <a:t>DRIBBLE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72016" y="4069079"/>
            <a:ext cx="2761488" cy="20482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doddy_pose_shoo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44862" y="4105655"/>
            <a:ext cx="1379220" cy="165506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381744" y="5742431"/>
            <a:ext cx="256032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11115"/>
                </a:solidFill>
                <a:latin typeface="Inter"/>
              </a:defRPr>
            </a:pPr>
            <a:r>
              <a:t>SHOOT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CHARACTER / POSE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Pose library 3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Independent SVG sources for approved gesture families.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1207" y="1856231"/>
            <a:ext cx="2761488" cy="20482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oddy_pose_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053" y="1892807"/>
            <a:ext cx="1379220" cy="1655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" y="3529584"/>
            <a:ext cx="256032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11115"/>
                </a:solidFill>
                <a:latin typeface="Inter"/>
              </a:defRPr>
            </a:pPr>
            <a:r>
              <a:t>PHONE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8144" y="1856231"/>
            <a:ext cx="2761488" cy="20482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oddy_pose_r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0990" y="1892807"/>
            <a:ext cx="1379220" cy="16550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47872" y="3529584"/>
            <a:ext cx="256032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11115"/>
                </a:solidFill>
                <a:latin typeface="Inter"/>
              </a:defRPr>
            </a:pPr>
            <a:r>
              <a:t>READ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856231"/>
            <a:ext cx="2761488" cy="20482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oddy_pose_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7926" y="1892807"/>
            <a:ext cx="1379220" cy="16550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64808" y="3529584"/>
            <a:ext cx="256032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11115"/>
                </a:solidFill>
                <a:latin typeface="Inter"/>
              </a:defRPr>
            </a:pPr>
            <a:r>
              <a:t>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72016" y="1856231"/>
            <a:ext cx="2761488" cy="20482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oddy_pose_s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4862" y="1892807"/>
            <a:ext cx="1379220" cy="16550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381744" y="3529584"/>
            <a:ext cx="256032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11115"/>
                </a:solidFill>
                <a:latin typeface="Inter"/>
              </a:defRPr>
            </a:pPr>
            <a:r>
              <a:t>REST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207" y="4069079"/>
            <a:ext cx="2761488" cy="20482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doddy_pose_tal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4053" y="4105655"/>
            <a:ext cx="1379220" cy="165506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0936" y="5742431"/>
            <a:ext cx="256032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11115"/>
                </a:solidFill>
                <a:latin typeface="Inter"/>
              </a:defRPr>
            </a:pPr>
            <a:r>
              <a:t>EXPLAIN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38144" y="4069079"/>
            <a:ext cx="2761488" cy="20482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doddy_pose_poi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0990" y="4105655"/>
            <a:ext cx="1379220" cy="165506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547872" y="5742431"/>
            <a:ext cx="256032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11115"/>
                </a:solidFill>
                <a:latin typeface="Inter"/>
              </a:defRPr>
            </a:pPr>
            <a:r>
              <a:t>SUPPORT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4069079"/>
            <a:ext cx="2761488" cy="20482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doddy_pose_thinki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7926" y="4105655"/>
            <a:ext cx="1379220" cy="165506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64808" y="5742431"/>
            <a:ext cx="256032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11115"/>
                </a:solidFill>
                <a:latin typeface="Inter"/>
              </a:defRPr>
            </a:pPr>
            <a:r>
              <a:t>LOOK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72016" y="4069079"/>
            <a:ext cx="2761488" cy="20482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doddy_pose_danc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44862" y="4105655"/>
            <a:ext cx="1379220" cy="165506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381744" y="5742431"/>
            <a:ext cx="256032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11115"/>
                </a:solidFill>
                <a:latin typeface="Inter"/>
              </a:defRPr>
            </a:pPr>
            <a:r>
              <a:t>DANCE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CHARACTER / POSE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Pose library 4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Independent SVG sources for approved gesture families.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1207" y="1856231"/>
            <a:ext cx="2761488" cy="20482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oddy_pose_wave_bo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053" y="1892807"/>
            <a:ext cx="1379220" cy="1655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" y="3529584"/>
            <a:ext cx="256032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11115"/>
                </a:solidFill>
                <a:latin typeface="Inter"/>
              </a:defRPr>
            </a:pPr>
            <a:r>
              <a:t>WAVE BOTH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8144" y="1856231"/>
            <a:ext cx="2761488" cy="20482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oddy_pose_ju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0990" y="1892807"/>
            <a:ext cx="1379220" cy="16550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47872" y="3529584"/>
            <a:ext cx="256032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11115"/>
                </a:solidFill>
                <a:latin typeface="Inter"/>
              </a:defRPr>
            </a:pPr>
            <a:r>
              <a:t>HIGH FIVE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856231"/>
            <a:ext cx="2761488" cy="20482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oddy_pose_wa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7926" y="1892807"/>
            <a:ext cx="1379220" cy="16550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64808" y="3529584"/>
            <a:ext cx="256032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11115"/>
                </a:solidFill>
                <a:latin typeface="Inter"/>
              </a:defRPr>
            </a:pPr>
            <a:r>
              <a:t>GREET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72016" y="1856231"/>
            <a:ext cx="2761488" cy="20482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oddy_pose_neutr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4862" y="1892807"/>
            <a:ext cx="1379220" cy="16550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381744" y="3529584"/>
            <a:ext cx="256032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11115"/>
                </a:solidFill>
                <a:latin typeface="Inter"/>
              </a:defRPr>
            </a:pPr>
            <a:r>
              <a:t>CARRY BAG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CHARACTER /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Turnaround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A consistent silhouette from multiple viewpoints.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6072" y="1920240"/>
            <a:ext cx="2752344" cy="4114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oddy_pose_neu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417673"/>
            <a:ext cx="2340864" cy="28090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" y="5577840"/>
            <a:ext cx="2560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11115"/>
                </a:solidFill>
                <a:latin typeface="Inter"/>
              </a:defRPr>
            </a:pPr>
            <a:r>
              <a:t>FRONT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920240"/>
            <a:ext cx="2752344" cy="4114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oddy_turnaround_three_quar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2417673"/>
            <a:ext cx="2340864" cy="28090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66160" y="5577840"/>
            <a:ext cx="2560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11115"/>
                </a:solidFill>
                <a:latin typeface="Inter"/>
              </a:defRPr>
            </a:pPr>
            <a:r>
              <a:t>THREE QUARTER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3368" y="1920240"/>
            <a:ext cx="2752344" cy="4114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oddy_turnaround_s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2417673"/>
            <a:ext cx="2340864" cy="28090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64807" y="5577840"/>
            <a:ext cx="2560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11115"/>
                </a:solidFill>
                <a:latin typeface="Inter"/>
              </a:defRPr>
            </a:pPr>
            <a:r>
              <a:t>SIDE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72016" y="1920240"/>
            <a:ext cx="2752344" cy="4114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oddy_turnaround_ba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1472" y="2417673"/>
            <a:ext cx="2340864" cy="28090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363456" y="5577840"/>
            <a:ext cx="2560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11115"/>
                </a:solidFill>
                <a:latin typeface="Inter"/>
              </a:defRPr>
            </a:pPr>
            <a:r>
              <a:t>BACK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CHARACTER / SIGNATURE ELEMENTS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The little things matter.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The backpack, basketball and trainers are character clues - not mandatory props.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6072" y="2039112"/>
            <a:ext cx="3648456" cy="39776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oddy_backp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567" y="2542032"/>
            <a:ext cx="2221744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0392" y="5440680"/>
            <a:ext cx="31089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11115"/>
                </a:solidFill>
                <a:latin typeface="Inter"/>
              </a:defRPr>
            </a:pPr>
            <a:r>
              <a:t>BACKPACK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2039112"/>
            <a:ext cx="3648456" cy="39776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oddy_basketb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542032"/>
            <a:ext cx="2651759" cy="265175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36592" y="5440680"/>
            <a:ext cx="31089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11115"/>
                </a:solidFill>
                <a:latin typeface="Inter"/>
              </a:defRPr>
            </a:pPr>
            <a:r>
              <a:t>BASKETBALL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48472" y="2039112"/>
            <a:ext cx="3648456" cy="39776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oddy_trai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9952" y="3085539"/>
            <a:ext cx="2779776" cy="15647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22792" y="5440680"/>
            <a:ext cx="31089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11115"/>
                </a:solidFill>
                <a:latin typeface="Inter"/>
              </a:defRPr>
            </a:pPr>
            <a:r>
              <a:t>TRAINERS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CHARACTER /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Protect recognition.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Make new poses freely. Do not redefine the face.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57784" y="1993392"/>
            <a:ext cx="5422392" cy="3941063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194560"/>
            <a:ext cx="5010912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111115"/>
                </a:solidFill>
                <a:latin typeface="Inter"/>
              </a:defRPr>
            </a:pPr>
            <a: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706624"/>
            <a:ext cx="5010912" cy="313639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Keep vertical oval eyes.</a:t>
            </a:r>
          </a:p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Keep the large round head.</a:t>
            </a:r>
          </a:p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Use imperfect rounded ink strokes.</a:t>
            </a:r>
          </a:p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Keep mittens and oversized trainers.</a:t>
            </a:r>
          </a:p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Simplify appropriately at small sizes.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993392"/>
            <a:ext cx="5413248" cy="3941063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00176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111115"/>
                </a:solidFill>
                <a:latin typeface="Inter"/>
              </a:defRPr>
            </a:pPr>
            <a:r>
              <a:t>DON’T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06624"/>
            <a:ext cx="5001768" cy="313639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Add realistic anatomy or detailed hands.</a:t>
            </a:r>
          </a:p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Replace the face with emoji/robot tropes.</a:t>
            </a:r>
          </a:p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Vary eye geometry dramatically.</a:t>
            </a:r>
          </a:p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Use permanent random orange rays.</a:t>
            </a:r>
          </a:p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Stretch full-body art to tiny UI icons.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CHARACTER / RESPONSIVE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Use the right level of detail.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A 24px avatar is not a shrunken full-body illustration.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984248"/>
            <a:ext cx="2734056" cy="333756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oddy_face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49424"/>
            <a:ext cx="2212848" cy="22128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8" y="4773168"/>
            <a:ext cx="2478024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11115"/>
                </a:solidFill>
                <a:latin typeface="Inter"/>
              </a:defRPr>
            </a:pPr>
            <a:r>
              <a:t>24–48 px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39512"/>
            <a:ext cx="246888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67676B"/>
                </a:solidFill>
                <a:latin typeface="Inter"/>
              </a:defRPr>
            </a:pPr>
            <a:r>
              <a:t>Simple face mark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3864" y="1984248"/>
            <a:ext cx="2734056" cy="333756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oddy_face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184" y="2249424"/>
            <a:ext cx="2212848" cy="22128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39312" y="4773168"/>
            <a:ext cx="2478024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11115"/>
                </a:solidFill>
                <a:latin typeface="Inter"/>
              </a:defRPr>
            </a:pPr>
            <a:r>
              <a:t>64–112 px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5239512"/>
            <a:ext cx="246888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67676B"/>
                </a:solidFill>
                <a:latin typeface="Inter"/>
              </a:defRPr>
            </a:pPr>
            <a:r>
              <a:t>Face + minimal accent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73368" y="1984248"/>
            <a:ext cx="2734056" cy="333756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oddy_master_fr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512" y="2167128"/>
            <a:ext cx="1981200" cy="23774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28816" y="4773168"/>
            <a:ext cx="2478024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11115"/>
                </a:solidFill>
                <a:latin typeface="Inter"/>
              </a:defRPr>
            </a:pPr>
            <a:r>
              <a:t>160–320 px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5239512"/>
            <a:ext cx="246888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67676B"/>
                </a:solidFill>
                <a:latin typeface="Inter"/>
              </a:defRPr>
            </a:pPr>
            <a:r>
              <a:t>Bust or half-body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2872" y="1984248"/>
            <a:ext cx="2734056" cy="333756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doddy_master_fr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3016" y="2167128"/>
            <a:ext cx="1981200" cy="23774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418320" y="4773168"/>
            <a:ext cx="2478024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11115"/>
                </a:solidFill>
                <a:latin typeface="Inter"/>
              </a:defRPr>
            </a:pPr>
            <a:r>
              <a:t>400 px 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5239512"/>
            <a:ext cx="246888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67676B"/>
                </a:solidFill>
                <a:latin typeface="Inter"/>
              </a:defRPr>
            </a:pPr>
            <a:r>
              <a:t>Full figure + accessory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448056"/>
            <a:ext cx="548640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6A00"/>
                </a:solidFill>
                <a:latin typeface="Inter"/>
              </a:defRPr>
            </a:pPr>
            <a:r>
              <a:t>DODDY  /  BRAND SYSTEM v1.3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020824"/>
            <a:ext cx="164592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6700" b="1">
                <a:solidFill>
                  <a:srgbClr val="FF6A00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3008376"/>
            <a:ext cx="1005840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5900" b="1">
                <a:solidFill>
                  <a:srgbClr val="FFFFFF"/>
                </a:solidFill>
                <a:latin typeface="Inter"/>
              </a:defRPr>
            </a:pPr>
            <a:r>
              <a:t>Visual identity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4050791"/>
            <a:ext cx="914400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D9D9DB"/>
                </a:solidFill>
                <a:latin typeface="Inter"/>
              </a:defRPr>
            </a:pPr>
            <a:r>
              <a:t>Ink, warmth and a bright burst of orange.</a:t>
            </a:r>
          </a:p>
        </p:txBody>
      </p:sp>
      <p:pic>
        <p:nvPicPr>
          <p:cNvPr id="7" name="Picture 6" descr="doddy_master_front_dark_adap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7112" y="1113739"/>
            <a:ext cx="2944368" cy="353324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IDENTITY / LOGOS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A compact, flexible family.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Wordmark, slogan lockup, reversed use and reduced face icon.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11095"/>
            <a:ext cx="5550408" cy="3328416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oddy_tagline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862" y="2276856"/>
            <a:ext cx="3758810" cy="221284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300216" y="1911095"/>
            <a:ext cx="5285232" cy="3328416"/>
          </a:xfrm>
          <a:prstGeom prst="roundRect">
            <a:avLst>
              <a:gd name="adj" fmla="val 11000"/>
            </a:avLst>
          </a:prstGeom>
          <a:solidFill>
            <a:srgbClr val="16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oddy_primary_word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284" y="2441448"/>
            <a:ext cx="4509654" cy="1920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2376" y="5477256"/>
            <a:ext cx="45720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11115"/>
                </a:solidFill>
                <a:latin typeface="Inter"/>
              </a:defRPr>
            </a:pPr>
            <a:r>
              <a:t>PRIMARY + TAGLINE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5477256"/>
            <a:ext cx="45720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11115"/>
                </a:solidFill>
                <a:latin typeface="Inter"/>
              </a:defRPr>
            </a:pPr>
            <a:r>
              <a:t>REVERSED WORDMARK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IDENTITY / LOGO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Give Doddy breathing room.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Minimum safe area: one face-eye width around the wordmark or mark.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oddy_primary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2194972"/>
            <a:ext cx="5495544" cy="234003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74536" y="2084831"/>
            <a:ext cx="4946904" cy="35753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4848" y="2286000"/>
            <a:ext cx="4535424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111115"/>
                </a:solidFill>
                <a:latin typeface="Inter"/>
              </a:defRPr>
            </a:pPr>
            <a:r>
              <a:t>PRACTICAL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4848" y="2798063"/>
            <a:ext cx="4535424" cy="27706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Keep x-height and underline readable.</a:t>
            </a:r>
          </a:p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Use ink on paper or white on charcoal.</a:t>
            </a:r>
          </a:p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No stretched/skewed variants.</a:t>
            </a:r>
          </a:p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No shadows or gradient outlines.</a:t>
            </a:r>
          </a:p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Outline approved logotype before launch.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IDENTITY / INCORRECT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No improvising the mark.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A clear brand is built through repetition, not decoration.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947672"/>
            <a:ext cx="5394960" cy="36301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498348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111115"/>
                </a:solidFill>
                <a:latin typeface="Inter"/>
              </a:defRPr>
            </a:pPr>
            <a:r>
              <a:t>AVOID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60904"/>
            <a:ext cx="4983480" cy="28254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67676B"/>
                </a:solidFill>
                <a:latin typeface="Inter"/>
              </a:defRPr>
            </a:pPr>
            <a:r>
              <a:t>Stretching the wordmark</a:t>
            </a:r>
          </a:p>
          <a:p>
            <a:pPr>
              <a:spcAft>
                <a:spcPts val="400"/>
              </a:spcAft>
              <a:defRPr sz="1800" b="0">
                <a:solidFill>
                  <a:srgbClr val="67676B"/>
                </a:solidFill>
                <a:latin typeface="Inter"/>
              </a:defRPr>
            </a:pPr>
            <a:r>
              <a:t>Replacing orange with random colours</a:t>
            </a:r>
          </a:p>
          <a:p>
            <a:pPr>
              <a:spcAft>
                <a:spcPts val="400"/>
              </a:spcAft>
              <a:defRPr sz="1800" b="0">
                <a:solidFill>
                  <a:srgbClr val="67676B"/>
                </a:solidFill>
                <a:latin typeface="Inter"/>
              </a:defRPr>
            </a:pPr>
            <a:r>
              <a:t>Adding shadows or strokes</a:t>
            </a:r>
          </a:p>
          <a:p>
            <a:pPr>
              <a:spcAft>
                <a:spcPts val="400"/>
              </a:spcAft>
              <a:defRPr sz="1800" b="0">
                <a:solidFill>
                  <a:srgbClr val="67676B"/>
                </a:solidFill>
                <a:latin typeface="Inter"/>
              </a:defRPr>
            </a:pPr>
            <a:r>
              <a:t>Using logo text as body font</a:t>
            </a:r>
          </a:p>
          <a:p>
            <a:pPr>
              <a:spcAft>
                <a:spcPts val="400"/>
              </a:spcAft>
              <a:defRPr sz="1800" b="0">
                <a:solidFill>
                  <a:srgbClr val="67676B"/>
                </a:solidFill>
                <a:latin typeface="Inter"/>
              </a:defRPr>
            </a:pPr>
            <a:r>
              <a:t>Letting dark mode lose contrast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947672"/>
            <a:ext cx="5394960" cy="36301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40"/>
            <a:ext cx="498348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111115"/>
                </a:solidFill>
                <a:latin typeface="Inter"/>
              </a:defRPr>
            </a:pPr>
            <a:r>
              <a:t>PREFER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60904"/>
            <a:ext cx="4983480" cy="28254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67676B"/>
                </a:solidFill>
                <a:latin typeface="Inter"/>
              </a:defRPr>
            </a:pPr>
            <a:r>
              <a:t>Approved lockups only</a:t>
            </a:r>
          </a:p>
          <a:p>
            <a:pPr>
              <a:spcAft>
                <a:spcPts val="400"/>
              </a:spcAft>
              <a:defRPr sz="1800" b="0">
                <a:solidFill>
                  <a:srgbClr val="67676B"/>
                </a:solidFill>
                <a:latin typeface="Inter"/>
              </a:defRPr>
            </a:pPr>
            <a:r>
              <a:t>Responsive face mark at small sizes</a:t>
            </a:r>
          </a:p>
          <a:p>
            <a:pPr>
              <a:spcAft>
                <a:spcPts val="400"/>
              </a:spcAft>
              <a:defRPr sz="1800" b="0">
                <a:solidFill>
                  <a:srgbClr val="67676B"/>
                </a:solidFill>
                <a:latin typeface="Inter"/>
              </a:defRPr>
            </a:pPr>
            <a:r>
              <a:t>Orange underline used deliberately</a:t>
            </a:r>
          </a:p>
          <a:p>
            <a:pPr>
              <a:spcAft>
                <a:spcPts val="400"/>
              </a:spcAft>
              <a:defRPr sz="1800" b="0">
                <a:solidFill>
                  <a:srgbClr val="67676B"/>
                </a:solidFill>
                <a:latin typeface="Inter"/>
              </a:defRPr>
            </a:pPr>
            <a:r>
              <a:t>Accessible background combinations</a:t>
            </a:r>
          </a:p>
          <a:p>
            <a:pPr>
              <a:spcAft>
                <a:spcPts val="400"/>
              </a:spcAft>
              <a:defRPr sz="1800" b="0">
                <a:solidFill>
                  <a:srgbClr val="67676B"/>
                </a:solidFill>
                <a:latin typeface="Inter"/>
              </a:defRPr>
            </a:pPr>
            <a:r>
              <a:t>Minimum negative space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IDENTITY / COLOURS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Distinctive. Restrained. Useful.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Orange is the cue, not the wallpaper.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011680"/>
            <a:ext cx="2706624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2130552"/>
            <a:ext cx="2468880" cy="969264"/>
          </a:xfrm>
          <a:prstGeom prst="roundRect">
            <a:avLst>
              <a:gd name="adj" fmla="val 5000"/>
            </a:avLst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3209544"/>
            <a:ext cx="161848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11115"/>
                </a:solidFill>
                <a:latin typeface="Inter"/>
              </a:defRPr>
            </a:pPr>
            <a:r>
              <a:t>ORANGE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9112" y="3209544"/>
            <a:ext cx="1088136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200" b="1">
                <a:solidFill>
                  <a:srgbClr val="67676B"/>
                </a:solidFill>
                <a:latin typeface="Inter"/>
              </a:defRPr>
            </a:pPr>
            <a:r>
              <a:t>#FF6A00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2011680"/>
            <a:ext cx="2706624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75304" y="2130552"/>
            <a:ext cx="2468880" cy="969264"/>
          </a:xfrm>
          <a:prstGeom prst="roundRect">
            <a:avLst>
              <a:gd name="adj" fmla="val 5000"/>
            </a:avLst>
          </a:prstGeom>
          <a:solidFill>
            <a:srgbClr val="11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3209544"/>
            <a:ext cx="161848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11115"/>
                </a:solidFill>
                <a:latin typeface="Inter"/>
              </a:defRPr>
            </a:pPr>
            <a:r>
              <a:t>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28616" y="3209544"/>
            <a:ext cx="1088136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200" b="1">
                <a:solidFill>
                  <a:srgbClr val="67676B"/>
                </a:solidFill>
                <a:latin typeface="Inter"/>
              </a:defRPr>
            </a:pPr>
            <a:r>
              <a:t>#111115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45936" y="2011680"/>
            <a:ext cx="2706624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64808" y="2130552"/>
            <a:ext cx="2468880" cy="969264"/>
          </a:xfrm>
          <a:prstGeom prst="roundRect">
            <a:avLst>
              <a:gd name="adj" fmla="val 5000"/>
            </a:avLst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3209544"/>
            <a:ext cx="161848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11115"/>
                </a:solidFill>
                <a:latin typeface="Inter"/>
              </a:defRPr>
            </a:pPr>
            <a:r>
              <a:t>PAPER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3209544"/>
            <a:ext cx="1088136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200" b="1">
                <a:solidFill>
                  <a:srgbClr val="67676B"/>
                </a:solidFill>
                <a:latin typeface="Inter"/>
              </a:defRPr>
            </a:pPr>
            <a:r>
              <a:t>#F8F4EB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2011680"/>
            <a:ext cx="2706624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54312" y="2130552"/>
            <a:ext cx="2468880" cy="969264"/>
          </a:xfrm>
          <a:prstGeom prst="roundRect">
            <a:avLst>
              <a:gd name="adj" fmla="val 5000"/>
            </a:avLst>
          </a:prstGeom>
          <a:solidFill>
            <a:srgbClr val="FF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3209544"/>
            <a:ext cx="161848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11115"/>
                </a:solidFill>
                <a:latin typeface="Inter"/>
              </a:defRPr>
            </a:pPr>
            <a:r>
              <a:t>CREAM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07624" y="3209544"/>
            <a:ext cx="1088136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200" b="1">
                <a:solidFill>
                  <a:srgbClr val="67676B"/>
                </a:solidFill>
                <a:latin typeface="Inter"/>
              </a:defRPr>
            </a:pPr>
            <a:r>
              <a:t>#FFF9F1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005072"/>
            <a:ext cx="2706624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800" y="4123944"/>
            <a:ext cx="2468880" cy="9692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A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5202936"/>
            <a:ext cx="161848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11115"/>
                </a:solidFill>
                <a:latin typeface="Inter"/>
              </a:defRPr>
            </a:pPr>
            <a:r>
              <a:t>WHITE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39112" y="5202936"/>
            <a:ext cx="1088136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200" b="1">
                <a:solidFill>
                  <a:srgbClr val="67676B"/>
                </a:solidFill>
                <a:latin typeface="Inter"/>
              </a:defRPr>
            </a:pPr>
            <a:r>
              <a:t>#FFFFFF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56432" y="4005072"/>
            <a:ext cx="2706624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575304" y="4123944"/>
            <a:ext cx="2468880" cy="969264"/>
          </a:xfrm>
          <a:prstGeom prst="roundRect">
            <a:avLst>
              <a:gd name="adj" fmla="val 5000"/>
            </a:avLst>
          </a:prstGeom>
          <a:solidFill>
            <a:srgbClr val="16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93592" y="5202936"/>
            <a:ext cx="161848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11115"/>
                </a:solidFill>
                <a:latin typeface="Inter"/>
              </a:defRPr>
            </a:pPr>
            <a:r>
              <a:t>NIGHT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28616" y="5202936"/>
            <a:ext cx="1088136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200" b="1">
                <a:solidFill>
                  <a:srgbClr val="67676B"/>
                </a:solidFill>
                <a:latin typeface="Inter"/>
              </a:defRPr>
            </a:pPr>
            <a:r>
              <a:t>#16171C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45936" y="4005072"/>
            <a:ext cx="2706624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64808" y="4123944"/>
            <a:ext cx="2468880" cy="969264"/>
          </a:xfrm>
          <a:prstGeom prst="roundRect">
            <a:avLst>
              <a:gd name="adj" fmla="val 5000"/>
            </a:avLst>
          </a:prstGeom>
          <a:solidFill>
            <a:srgbClr val="676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3096" y="5202936"/>
            <a:ext cx="161848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11115"/>
                </a:solidFill>
                <a:latin typeface="Inter"/>
              </a:defRPr>
            </a:pPr>
            <a:r>
              <a:t>GREY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5202936"/>
            <a:ext cx="1088136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200" b="1">
                <a:solidFill>
                  <a:srgbClr val="67676B"/>
                </a:solidFill>
                <a:latin typeface="Inter"/>
              </a:defRPr>
            </a:pPr>
            <a:r>
              <a:t>#67676B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35440" y="4005072"/>
            <a:ext cx="2706624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54312" y="4123944"/>
            <a:ext cx="2468880" cy="969264"/>
          </a:xfrm>
          <a:prstGeom prst="roundRect">
            <a:avLst>
              <a:gd name="adj" fmla="val 5000"/>
            </a:avLst>
          </a:prstGeom>
          <a:solidFill>
            <a:srgbClr val="317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72600" y="5202936"/>
            <a:ext cx="161848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11115"/>
                </a:solidFill>
                <a:latin typeface="Inter"/>
              </a:defRPr>
            </a:pPr>
            <a:r>
              <a:t>BLUE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07624" y="5202936"/>
            <a:ext cx="1088136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200" b="1">
                <a:solidFill>
                  <a:srgbClr val="67676B"/>
                </a:solidFill>
                <a:latin typeface="Inter"/>
              </a:defRPr>
            </a:pPr>
            <a:r>
              <a:t>#3178C6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IDENTITY / SEMANTICS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Make colour mean something.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Use orange for actions and expression; reserve other accents for information.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5349240" cy="12161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121408"/>
            <a:ext cx="4937759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1115"/>
                </a:solidFill>
                <a:latin typeface="Inter"/>
              </a:defRPr>
            </a:pPr>
            <a:r>
              <a:t>Primary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633472"/>
            <a:ext cx="4937759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67676B"/>
                </a:solidFill>
                <a:latin typeface="Inter"/>
              </a:defRPr>
            </a:pPr>
            <a:r>
              <a:t>Doddy Orange / #FF6A00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920240"/>
            <a:ext cx="5349240" cy="12161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2121408"/>
            <a:ext cx="4937759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1115"/>
                </a:solidFill>
                <a:latin typeface="Inter"/>
              </a:defRPr>
            </a:pPr>
            <a:r>
              <a:t>Primary 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2633472"/>
            <a:ext cx="4937759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67676B"/>
                </a:solidFill>
                <a:latin typeface="Inter"/>
              </a:defRPr>
            </a:pPr>
            <a:r>
              <a:t>Ink Black / #111115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82696"/>
            <a:ext cx="5349240" cy="12161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3483864"/>
            <a:ext cx="4937759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1115"/>
                </a:solidFill>
                <a:latin typeface="Inter"/>
              </a:defRPr>
            </a:pPr>
            <a:r>
              <a:t>Light surface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3995928"/>
            <a:ext cx="4937759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67676B"/>
                </a:solidFill>
                <a:latin typeface="Inter"/>
              </a:defRPr>
            </a:pPr>
            <a:r>
              <a:t>Warm Paper / #F8F4EB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282696"/>
            <a:ext cx="5349240" cy="12161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3483864"/>
            <a:ext cx="4937759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1115"/>
                </a:solidFill>
                <a:latin typeface="Inter"/>
              </a:defRPr>
            </a:pPr>
            <a:r>
              <a:t>Dark surface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3995928"/>
            <a:ext cx="4937759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67676B"/>
                </a:solidFill>
                <a:latin typeface="Inter"/>
              </a:defRPr>
            </a:pPr>
            <a:r>
              <a:t>Night Charcoal / #16171C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645152"/>
            <a:ext cx="5349240" cy="12161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4846320"/>
            <a:ext cx="4937759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1115"/>
                </a:solidFill>
                <a:latin typeface="Inter"/>
              </a:defRPr>
            </a:pPr>
            <a:r>
              <a:t>Translator state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5358384"/>
            <a:ext cx="4937759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67676B"/>
                </a:solidFill>
                <a:latin typeface="Inter"/>
              </a:defRPr>
            </a:pPr>
            <a:r>
              <a:t>Companion Blue / #3178C6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79" y="4645152"/>
            <a:ext cx="5349240" cy="12161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792" y="4846320"/>
            <a:ext cx="4937759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1115"/>
                </a:solidFill>
                <a:latin typeface="Inter"/>
              </a:defRPr>
            </a:pPr>
            <a:r>
              <a:t>Low-priority metadata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5358384"/>
            <a:ext cx="4937759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67676B"/>
                </a:solidFill>
                <a:latin typeface="Inter"/>
              </a:defRPr>
            </a:pPr>
            <a:r>
              <a:t>Grey / #67676B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IDENTITY / THEME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Same character, two environments.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Use light by default, dark where context or user preference warrants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27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956816"/>
            <a:ext cx="5550408" cy="400507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oddy_master_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393" y="2075688"/>
            <a:ext cx="2857500" cy="3429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40480" y="2852928"/>
            <a:ext cx="192024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11115"/>
                </a:solidFill>
                <a:latin typeface="Inter"/>
              </a:defRPr>
            </a:pPr>
            <a:r>
              <a:t>PAPER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9624" y="3246120"/>
            <a:ext cx="210312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67676B"/>
                </a:solidFill>
                <a:latin typeface="Inter"/>
              </a:defRPr>
            </a:pPr>
            <a:r>
              <a:t>Warm, editorial, readable.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956816"/>
            <a:ext cx="5358384" cy="4005072"/>
          </a:xfrm>
          <a:prstGeom prst="roundRect">
            <a:avLst>
              <a:gd name="adj" fmla="val 11000"/>
            </a:avLst>
          </a:prstGeom>
          <a:solidFill>
            <a:srgbClr val="16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oddy_master_front_dark_adap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584" y="2103120"/>
            <a:ext cx="2865120" cy="34381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464040" y="2852928"/>
            <a:ext cx="18288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FFFFFF"/>
                </a:solidFill>
                <a:latin typeface="Inter"/>
              </a:defRPr>
            </a:pPr>
            <a:r>
              <a:t>NIGHT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3246120"/>
            <a:ext cx="182880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  <a:latin typeface="Inter"/>
              </a:defRPr>
            </a:pPr>
            <a:r>
              <a:t>Quiet, rich, still alive.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IDENTITY / TYPOGRAPHY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Playful display. Calm interface.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Typography should speak with personality without compromising readability.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28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5486400" cy="7955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7300" b="0">
                <a:solidFill>
                  <a:srgbClr val="111115"/>
                </a:solidFill>
                <a:latin typeface="Lobster Two"/>
              </a:defRPr>
            </a:pPr>
            <a:r>
              <a:t>Doddy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962656"/>
            <a:ext cx="475488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A44200"/>
                </a:solidFill>
                <a:latin typeface="Inter"/>
              </a:defRPr>
            </a:pPr>
            <a:r>
              <a:t>DISPLAY / LOBSTER TWO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3739896"/>
            <a:ext cx="704088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11115"/>
                </a:solidFill>
                <a:latin typeface="Inter"/>
              </a:defRPr>
            </a:pPr>
            <a:r>
              <a:t>A quick answer beats a clever screen.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4526280"/>
            <a:ext cx="6583680" cy="3931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67676B"/>
                </a:solidFill>
                <a:latin typeface="Inter"/>
              </a:defRPr>
            </a:pPr>
            <a:r>
              <a:t>INTER / UI, BODY, DATA AND CONTROLS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093976"/>
            <a:ext cx="2779776" cy="33832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23376" y="2660904"/>
            <a:ext cx="2286000" cy="6766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900" b="1">
                <a:solidFill>
                  <a:srgbClr val="111115"/>
                </a:solidFill>
                <a:latin typeface="Comic Neue"/>
              </a:defRPr>
            </a:pPr>
            <a:r>
              <a:t>Hey!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23376" y="3803904"/>
            <a:ext cx="219456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A44200"/>
                </a:solidFill>
                <a:latin typeface="Inter"/>
              </a:defRPr>
            </a:pPr>
            <a:r>
              <a:t>COMIC NEUE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23376" y="4187952"/>
            <a:ext cx="2194560" cy="8412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7676B"/>
                </a:solidFill>
                <a:latin typeface="Inter"/>
              </a:defRPr>
            </a:pPr>
            <a:r>
              <a:t>Small handwritten labels only.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IDENTITY / TYPE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Readable at every size.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Restrained type hierarchy is what makes the cartoon energy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29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901952"/>
            <a:ext cx="2194560" cy="3017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A44200"/>
                </a:solidFill>
                <a:latin typeface="Inter"/>
              </a:defRPr>
            </a:pPr>
            <a:r>
              <a:t>DISPLAY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901952"/>
            <a:ext cx="4352544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1115"/>
                </a:solidFill>
                <a:latin typeface="Inter"/>
              </a:defRPr>
            </a:pPr>
            <a:r>
              <a:t>64px  /  68px line height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901952"/>
            <a:ext cx="29260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67676B"/>
                </a:solidFill>
                <a:latin typeface="Inter"/>
              </a:defRPr>
            </a:pPr>
            <a:r>
              <a:t>Lobster Two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505456"/>
            <a:ext cx="2194560" cy="3017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A44200"/>
                </a:solidFill>
                <a:latin typeface="Inter"/>
              </a:defRPr>
            </a:pPr>
            <a:r>
              <a:t>H1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505456"/>
            <a:ext cx="4352544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1115"/>
                </a:solidFill>
                <a:latin typeface="Inter"/>
              </a:defRPr>
            </a:pPr>
            <a:r>
              <a:t>48px  /  52px line height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505456"/>
            <a:ext cx="29260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67676B"/>
                </a:solidFill>
                <a:latin typeface="Inter"/>
              </a:defRPr>
            </a:pPr>
            <a:r>
              <a:t>Inter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3108960"/>
            <a:ext cx="2194560" cy="3017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A44200"/>
                </a:solidFill>
                <a:latin typeface="Inter"/>
              </a:defRPr>
            </a:pPr>
            <a:r>
              <a:t>H2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108960"/>
            <a:ext cx="4352544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1115"/>
                </a:solidFill>
                <a:latin typeface="Inter"/>
              </a:defRPr>
            </a:pPr>
            <a:r>
              <a:t>34px  /  40px line height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108960"/>
            <a:ext cx="29260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67676B"/>
                </a:solidFill>
                <a:latin typeface="Inter"/>
              </a:defRPr>
            </a:pPr>
            <a:r>
              <a:t>Inter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3712464"/>
            <a:ext cx="2194560" cy="3017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A44200"/>
                </a:solidFill>
                <a:latin typeface="Inter"/>
              </a:defRPr>
            </a:pPr>
            <a:r>
              <a:t>H3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712464"/>
            <a:ext cx="4352544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1115"/>
                </a:solidFill>
                <a:latin typeface="Inter"/>
              </a:defRPr>
            </a:pPr>
            <a:r>
              <a:t>26px  /  32px line height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712464"/>
            <a:ext cx="29260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67676B"/>
                </a:solidFill>
                <a:latin typeface="Inter"/>
              </a:defRPr>
            </a:pPr>
            <a:r>
              <a:t>Inter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4315968"/>
            <a:ext cx="2194560" cy="3017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A44200"/>
                </a:solidFill>
                <a:latin typeface="Inter"/>
              </a:defRPr>
            </a:pPr>
            <a:r>
              <a:t>BODY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4315968"/>
            <a:ext cx="4352544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1115"/>
                </a:solidFill>
                <a:latin typeface="Inter"/>
              </a:defRPr>
            </a:pPr>
            <a:r>
              <a:t>16px  /  24px line height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315968"/>
            <a:ext cx="29260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67676B"/>
                </a:solidFill>
                <a:latin typeface="Inter"/>
              </a:defRPr>
            </a:pPr>
            <a:r>
              <a:t>Inter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4919472"/>
            <a:ext cx="2194560" cy="3017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A44200"/>
                </a:solidFill>
                <a:latin typeface="Inter"/>
              </a:defRPr>
            </a:pPr>
            <a:r>
              <a:t>SMALL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4919472"/>
            <a:ext cx="4352544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1115"/>
                </a:solidFill>
                <a:latin typeface="Inter"/>
              </a:defRPr>
            </a:pPr>
            <a:r>
              <a:t>14px  /  20px line height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4919472"/>
            <a:ext cx="29260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67676B"/>
                </a:solidFill>
                <a:latin typeface="Inter"/>
              </a:defRPr>
            </a:pPr>
            <a:r>
              <a:t>Inter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" y="5522976"/>
            <a:ext cx="2194560" cy="3017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A44200"/>
                </a:solidFill>
                <a:latin typeface="Inter"/>
              </a:defRPr>
            </a:pPr>
            <a:r>
              <a:t>LABEL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5522976"/>
            <a:ext cx="4352544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1115"/>
                </a:solidFill>
                <a:latin typeface="Inter"/>
              </a:defRPr>
            </a:pPr>
            <a:r>
              <a:t>12px  /  16px line height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5522976"/>
            <a:ext cx="29260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67676B"/>
                </a:solidFill>
                <a:latin typeface="Inter"/>
              </a:defRPr>
            </a:pPr>
            <a:r>
              <a:t>Inter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IDENTITY / GRAPHIC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Energy in short marks.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Arrows, motion marks and bubbles are accent vocabulary.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30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0352" y="1975104"/>
            <a:ext cx="2706624" cy="395020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oddy_arrow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764142"/>
            <a:ext cx="2011680" cy="172290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5376672"/>
            <a:ext cx="237744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11115"/>
                </a:solidFill>
                <a:latin typeface="Inter"/>
              </a:defRPr>
            </a:pPr>
            <a:r>
              <a:t>ARROWS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9856" y="1975104"/>
            <a:ext cx="2706624" cy="395020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otion_mark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619756"/>
            <a:ext cx="2011680" cy="2011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75304" y="5376672"/>
            <a:ext cx="237744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11115"/>
                </a:solidFill>
                <a:latin typeface="Inter"/>
              </a:defRPr>
            </a:pPr>
            <a:r>
              <a:t>MOTION MARKS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975104"/>
            <a:ext cx="2706624" cy="395020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oodle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619756"/>
            <a:ext cx="2011680" cy="20116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64808" y="5376672"/>
            <a:ext cx="237744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11115"/>
                </a:solidFill>
                <a:latin typeface="Inter"/>
              </a:defRPr>
            </a:pPr>
            <a:r>
              <a:t>DOODLES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98864" y="1975104"/>
            <a:ext cx="2706624" cy="395020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eech_bubble_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4624" y="2619756"/>
            <a:ext cx="2011680" cy="20116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354312" y="5376672"/>
            <a:ext cx="237744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11115"/>
                </a:solidFill>
                <a:latin typeface="Inter"/>
              </a:defRPr>
            </a:pPr>
            <a:r>
              <a:t>SPEECH BUBBLES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IDENTITY /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Editorial discipline.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Keep one focal character and one dominant headline per composition.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31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984248"/>
            <a:ext cx="3575304" cy="34472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85416"/>
            <a:ext cx="3163824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111115"/>
                </a:solidFill>
                <a:latin typeface="Inter"/>
              </a:defRPr>
            </a:pPr>
            <a:r>
              <a:t>1 / HERO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3163824" cy="26426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67676B"/>
                </a:solidFill>
                <a:latin typeface="Inter"/>
              </a:defRPr>
            </a:pPr>
            <a:r>
              <a:t>One recognisable moment.</a:t>
            </a:r>
          </a:p>
          <a:p>
            <a:pPr>
              <a:spcAft>
                <a:spcPts val="400"/>
              </a:spcAft>
              <a:defRPr sz="1900" b="0">
                <a:solidFill>
                  <a:srgbClr val="67676B"/>
                </a:solidFill>
                <a:latin typeface="Inter"/>
              </a:defRPr>
            </a:pPr>
            <a:r>
              <a:t>One sentence.</a:t>
            </a:r>
          </a:p>
          <a:p>
            <a:pPr>
              <a:spcAft>
                <a:spcPts val="400"/>
              </a:spcAft>
              <a:defRPr sz="1900" b="0">
                <a:solidFill>
                  <a:srgbClr val="67676B"/>
                </a:solidFill>
                <a:latin typeface="Inter"/>
              </a:defRPr>
            </a:pPr>
            <a:r>
              <a:t>Large breathing room.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984248"/>
            <a:ext cx="3575304" cy="34472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2185416"/>
            <a:ext cx="3163824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111115"/>
                </a:solidFill>
                <a:latin typeface="Inter"/>
              </a:defRPr>
            </a:pPr>
            <a:r>
              <a:t>2 / UTILITY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697480"/>
            <a:ext cx="3163824" cy="26426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67676B"/>
                </a:solidFill>
                <a:latin typeface="Inter"/>
              </a:defRPr>
            </a:pPr>
            <a:r>
              <a:t>Conventional navigation.</a:t>
            </a:r>
          </a:p>
          <a:p>
            <a:pPr>
              <a:spcAft>
                <a:spcPts val="400"/>
              </a:spcAft>
              <a:defRPr sz="1900" b="0">
                <a:solidFill>
                  <a:srgbClr val="67676B"/>
                </a:solidFill>
                <a:latin typeface="Inter"/>
              </a:defRPr>
            </a:pPr>
            <a:r>
              <a:t>High-contrast type.</a:t>
            </a:r>
          </a:p>
          <a:p>
            <a:pPr>
              <a:spcAft>
                <a:spcPts val="400"/>
              </a:spcAft>
              <a:defRPr sz="1900" b="0">
                <a:solidFill>
                  <a:srgbClr val="67676B"/>
                </a:solidFill>
                <a:latin typeface="Inter"/>
              </a:defRPr>
            </a:pPr>
            <a:r>
              <a:t>Honest state labels.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984248"/>
            <a:ext cx="3575304" cy="34472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2185416"/>
            <a:ext cx="3163824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111115"/>
                </a:solidFill>
                <a:latin typeface="Inter"/>
              </a:defRPr>
            </a:pPr>
            <a:r>
              <a:t>3 / DETAIL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697480"/>
            <a:ext cx="3163824" cy="26426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67676B"/>
                </a:solidFill>
                <a:latin typeface="Inter"/>
              </a:defRPr>
            </a:pPr>
            <a:r>
              <a:t>Sketches decorate.</a:t>
            </a:r>
          </a:p>
          <a:p>
            <a:pPr>
              <a:spcAft>
                <a:spcPts val="400"/>
              </a:spcAft>
              <a:defRPr sz="1900" b="0">
                <a:solidFill>
                  <a:srgbClr val="67676B"/>
                </a:solidFill>
                <a:latin typeface="Inter"/>
              </a:defRPr>
            </a:pPr>
            <a:r>
              <a:t>Data remains precise.</a:t>
            </a:r>
          </a:p>
          <a:p>
            <a:pPr>
              <a:spcAft>
                <a:spcPts val="400"/>
              </a:spcAft>
              <a:defRPr sz="1900" b="0">
                <a:solidFill>
                  <a:srgbClr val="67676B"/>
                </a:solidFill>
                <a:latin typeface="Inter"/>
              </a:defRPr>
            </a:pPr>
            <a:r>
              <a:t>Avoid excess UI ornament.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IDENTITY / ILLUSTRATION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A scene, not a sticker.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Place Doddy in a believable action; avoid floating poses without narrative purpose.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32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57784" y="1965960"/>
            <a:ext cx="5614416" cy="40965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oddy_pose_basketb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260" y="2066543"/>
            <a:ext cx="3185160" cy="382219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0" y="2020824"/>
            <a:ext cx="5102352" cy="392277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2221992"/>
            <a:ext cx="4690872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111115"/>
                </a:solidFill>
                <a:latin typeface="Inter"/>
              </a:defRPr>
            </a:pPr>
            <a:r>
              <a:t>STORYTELLING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2734056"/>
            <a:ext cx="4690872" cy="31181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Establish intent before expression.</a:t>
            </a:r>
          </a:p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Props should support the moment.</a:t>
            </a:r>
          </a:p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Use motion marks to clarify action.</a:t>
            </a:r>
          </a:p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Keep body language legible as a silhouette.</a:t>
            </a:r>
          </a:p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Let whitespace carry the composition.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448056"/>
            <a:ext cx="548640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6A00"/>
                </a:solidFill>
                <a:latin typeface="Inter"/>
              </a:defRPr>
            </a:pPr>
            <a:r>
              <a:t>DODDY  /  BRAND SYSTEM v1.3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020824"/>
            <a:ext cx="164592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6700" b="1">
                <a:solidFill>
                  <a:srgbClr val="FF6A00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3008376"/>
            <a:ext cx="1005840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5900" b="1">
                <a:solidFill>
                  <a:srgbClr val="FFFFFF"/>
                </a:solidFill>
                <a:latin typeface="Inter"/>
              </a:defRPr>
            </a:pPr>
            <a:r>
              <a:t>Motion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4050791"/>
            <a:ext cx="914400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D9D9DB"/>
                </a:solidFill>
                <a:latin typeface="Inter"/>
              </a:defRPr>
            </a:pPr>
            <a:r>
              <a:t>A living companion. Never an endless spinner.</a:t>
            </a:r>
          </a:p>
        </p:txBody>
      </p:sp>
      <p:pic>
        <p:nvPicPr>
          <p:cNvPr id="7" name="Picture 6" descr="doddy_master_front_dark_adap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7112" y="1113739"/>
            <a:ext cx="2944368" cy="3533241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MOTION /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Movement explains the state.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Character behaviour is part of UX, not decoration applied afterwards.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34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57784" y="1956816"/>
            <a:ext cx="3584448" cy="17739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157984"/>
            <a:ext cx="317296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11115"/>
                </a:solidFill>
                <a:latin typeface="Inter"/>
              </a:defRPr>
            </a:pPr>
            <a:r>
              <a:t>CONTINUITY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670048"/>
            <a:ext cx="3172968" cy="9692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67676B"/>
                </a:solidFill>
                <a:latin typeface="Inter"/>
              </a:defRPr>
            </a:pPr>
            <a:r>
              <a:t>Doddy shifts; never teleports.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1956816"/>
            <a:ext cx="3584448" cy="17739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2157984"/>
            <a:ext cx="317296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11115"/>
                </a:solidFill>
                <a:latin typeface="Inter"/>
              </a:defRPr>
            </a:pPr>
            <a:r>
              <a:t>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670048"/>
            <a:ext cx="3172968" cy="9692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67676B"/>
                </a:solidFill>
                <a:latin typeface="Inter"/>
              </a:defRPr>
            </a:pPr>
            <a:r>
              <a:t>Listening follows actual input.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1956816"/>
            <a:ext cx="3584448" cy="17739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2157984"/>
            <a:ext cx="317296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11115"/>
                </a:solidFill>
                <a:latin typeface="Inter"/>
              </a:defRPr>
            </a:pPr>
            <a:r>
              <a:t>CLARITY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2670048"/>
            <a:ext cx="3172968" cy="9692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67676B"/>
                </a:solidFill>
                <a:latin typeface="Inter"/>
              </a:defRPr>
            </a:pPr>
            <a:r>
              <a:t>Thinking tells users what is happening.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" y="3904487"/>
            <a:ext cx="3584448" cy="17739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4105655"/>
            <a:ext cx="317296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11115"/>
                </a:solidFill>
                <a:latin typeface="Inter"/>
              </a:defRPr>
            </a:pPr>
            <a:r>
              <a:t>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4617720"/>
            <a:ext cx="3172968" cy="9692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67676B"/>
                </a:solidFill>
                <a:latin typeface="Inter"/>
              </a:defRPr>
            </a:pPr>
            <a:r>
              <a:t>Every action can be interrupted.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52544" y="3904487"/>
            <a:ext cx="3584448" cy="17739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62856" y="4105655"/>
            <a:ext cx="317296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11115"/>
                </a:solidFill>
                <a:latin typeface="Inter"/>
              </a:defRPr>
            </a:pPr>
            <a:r>
              <a:t>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2856" y="4617720"/>
            <a:ext cx="3172968" cy="9692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67676B"/>
                </a:solidFill>
                <a:latin typeface="Inter"/>
              </a:defRPr>
            </a:pPr>
            <a:r>
              <a:t>Respect Reduce Motion.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3904487"/>
            <a:ext cx="3584448" cy="17739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57616" y="4105655"/>
            <a:ext cx="317296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11115"/>
                </a:solidFill>
                <a:latin typeface="Inter"/>
              </a:defRPr>
            </a:pPr>
            <a:r>
              <a:t>RESOLUTION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7616" y="4617720"/>
            <a:ext cx="3172968" cy="9692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67676B"/>
                </a:solidFill>
                <a:latin typeface="Inter"/>
              </a:defRPr>
            </a:pPr>
            <a:r>
              <a:t>Success and failure have distinct closure.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MOTION / TIMINGS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Fast where it matters.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Suggested interaction tokens, not hardcoded timing mandates.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35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911095"/>
            <a:ext cx="210312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A44200"/>
                </a:solidFill>
                <a:latin typeface="Inter"/>
              </a:defRPr>
            </a:pPr>
            <a:r>
              <a:t>120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911095"/>
            <a:ext cx="277063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11115"/>
                </a:solidFill>
                <a:latin typeface="Inter"/>
              </a:defRPr>
            </a:pPr>
            <a:r>
              <a:t>BUTTON 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14416" y="1911095"/>
            <a:ext cx="5568696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67676B"/>
                </a:solidFill>
                <a:latin typeface="Inter"/>
              </a:defRPr>
            </a:pPr>
            <a:r>
              <a:t>A small commitment of attention.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724912"/>
            <a:ext cx="210312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A44200"/>
                </a:solidFill>
                <a:latin typeface="Inter"/>
              </a:defRPr>
            </a:pPr>
            <a:r>
              <a:t>240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724912"/>
            <a:ext cx="277063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11115"/>
                </a:solidFill>
                <a:latin typeface="Inter"/>
              </a:defRPr>
            </a:pPr>
            <a:r>
              <a:t>UI TRANSITION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14416" y="2724912"/>
            <a:ext cx="5568696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67676B"/>
                </a:solidFill>
                <a:latin typeface="Inter"/>
              </a:defRPr>
            </a:pPr>
            <a:r>
              <a:t>A card stays spatially connected.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538728"/>
            <a:ext cx="210312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A44200"/>
                </a:solidFill>
                <a:latin typeface="Inter"/>
              </a:defRPr>
            </a:pPr>
            <a:r>
              <a:t>420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538728"/>
            <a:ext cx="277063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11115"/>
                </a:solidFill>
                <a:latin typeface="Inter"/>
              </a:defRPr>
            </a:pPr>
            <a:r>
              <a:t>CHARACTER GESTURE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14416" y="3538728"/>
            <a:ext cx="5568696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67676B"/>
                </a:solidFill>
                <a:latin typeface="Inter"/>
              </a:defRPr>
            </a:pPr>
            <a:r>
              <a:t>Anticipation, follow-through and settle.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352544"/>
            <a:ext cx="210312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A44200"/>
                </a:solidFill>
                <a:latin typeface="Inter"/>
              </a:defRPr>
            </a:pPr>
            <a:r>
              <a:t>680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352544"/>
            <a:ext cx="277063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11115"/>
                </a:solidFill>
                <a:latin typeface="Inter"/>
              </a:defRPr>
            </a:pPr>
            <a:r>
              <a:t>CHARACTER RESET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14416" y="4352544"/>
            <a:ext cx="5568696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67676B"/>
                </a:solidFill>
                <a:latin typeface="Inter"/>
              </a:defRPr>
            </a:pPr>
            <a:r>
              <a:t>Room for physicality, never blocking UI.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5166360"/>
            <a:ext cx="210312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A44200"/>
                </a:solidFill>
                <a:latin typeface="Inter"/>
              </a:defRPr>
            </a:pPr>
            <a:r>
              <a:t>720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5166360"/>
            <a:ext cx="277063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11115"/>
                </a:solidFill>
                <a:latin typeface="Inter"/>
              </a:defRPr>
            </a:pPr>
            <a:r>
              <a:t>WALK CYCLE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14416" y="5166360"/>
            <a:ext cx="5568696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67676B"/>
                </a:solidFill>
                <a:latin typeface="Inter"/>
              </a:defRPr>
            </a:pPr>
            <a:r>
              <a:t>Illustrative natural cadence.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6A00"/>
                </a:solidFill>
                <a:latin typeface="Inter"/>
              </a:defRPr>
            </a:pPr>
            <a:r>
              <a:t>MOTION / SYSTEM STATES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FFFFFF"/>
                </a:solidFill>
                <a:latin typeface="Inter"/>
              </a:defRPr>
            </a:pPr>
            <a:r>
              <a:t>Status is a promise.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D2D3D5"/>
                </a:solidFill>
                <a:latin typeface="Inter"/>
              </a:defRPr>
            </a:pPr>
            <a:r>
              <a:t>Indicate only states that are actually true and observable.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FFFFFF"/>
                </a:solidFill>
                <a:latin typeface="Inter"/>
              </a:defRPr>
            </a:pPr>
            <a:r>
              <a:t>36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194560"/>
            <a:ext cx="2606040" cy="1216152"/>
          </a:xfrm>
          <a:prstGeom prst="roundRect">
            <a:avLst>
              <a:gd name="adj" fmla="val 12000"/>
            </a:avLst>
          </a:prstGeom>
          <a:solidFill>
            <a:srgbClr val="27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2468879"/>
            <a:ext cx="2340864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IDLE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194560"/>
            <a:ext cx="2606040" cy="1216152"/>
          </a:xfrm>
          <a:prstGeom prst="roundRect">
            <a:avLst>
              <a:gd name="adj" fmla="val 12000"/>
            </a:avLst>
          </a:prstGeom>
          <a:solidFill>
            <a:srgbClr val="27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1296" y="2468879"/>
            <a:ext cx="2340864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INVOKED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194560"/>
            <a:ext cx="2606040" cy="1216152"/>
          </a:xfrm>
          <a:prstGeom prst="roundRect">
            <a:avLst>
              <a:gd name="adj" fmla="val 12000"/>
            </a:avLst>
          </a:prstGeom>
          <a:solidFill>
            <a:srgbClr val="27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2468879"/>
            <a:ext cx="2340864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LISTENING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2194560"/>
            <a:ext cx="2606040" cy="1216152"/>
          </a:xfrm>
          <a:prstGeom prst="roundRect">
            <a:avLst>
              <a:gd name="adj" fmla="val 12000"/>
            </a:avLst>
          </a:prstGeom>
          <a:solidFill>
            <a:srgbClr val="27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63456" y="2468879"/>
            <a:ext cx="2340864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UNDERSTANDING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58183"/>
            <a:ext cx="2606040" cy="1216152"/>
          </a:xfrm>
          <a:prstGeom prst="roundRect">
            <a:avLst>
              <a:gd name="adj" fmla="val 12000"/>
            </a:avLst>
          </a:prstGeom>
          <a:solidFill>
            <a:srgbClr val="27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4032503"/>
            <a:ext cx="2340864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THINKING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3758183"/>
            <a:ext cx="2606040" cy="1216152"/>
          </a:xfrm>
          <a:prstGeom prst="roundRect">
            <a:avLst>
              <a:gd name="adj" fmla="val 12000"/>
            </a:avLst>
          </a:prstGeom>
          <a:solidFill>
            <a:srgbClr val="27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4032503"/>
            <a:ext cx="2340864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ANSWER / ACTION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758183"/>
            <a:ext cx="2606040" cy="1216152"/>
          </a:xfrm>
          <a:prstGeom prst="roundRect">
            <a:avLst>
              <a:gd name="adj" fmla="val 12000"/>
            </a:avLst>
          </a:prstGeom>
          <a:solidFill>
            <a:srgbClr val="27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7376" y="4032503"/>
            <a:ext cx="2340864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SUCCESS / ERROR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" y="5660136"/>
            <a:ext cx="10789920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FF6A00"/>
                </a:solidFill>
                <a:latin typeface="Inter"/>
              </a:defRPr>
            </a:pPr>
            <a:r>
              <a:t>CANCEL / INTERRUPT must work from any active state.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MOTION / DEMOS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Three storyboard loops.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GIF previews demonstrate intent. They are not production Rive or Lottie rigs.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37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029968"/>
            <a:ext cx="3584448" cy="38770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if_ges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676" y="2304288"/>
            <a:ext cx="2438400" cy="2926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1" y="5330952"/>
            <a:ext cx="3108960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111115"/>
                </a:solidFill>
                <a:latin typeface="Inter"/>
              </a:defRPr>
            </a:pPr>
            <a:r>
              <a:t>GESTURE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4" y="2029968"/>
            <a:ext cx="3584448" cy="38770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gif_thin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300" y="2304288"/>
            <a:ext cx="2438400" cy="2926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54296" y="5330952"/>
            <a:ext cx="3108960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111115"/>
                </a:solidFill>
                <a:latin typeface="Inter"/>
              </a:defRPr>
            </a:pPr>
            <a:r>
              <a:t>THINKING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39327" y="2029968"/>
            <a:ext cx="3584448" cy="38770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gif_ges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6923" y="2304288"/>
            <a:ext cx="2438400" cy="29260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503919" y="5330952"/>
            <a:ext cx="3108960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111115"/>
                </a:solidFill>
                <a:latin typeface="Inter"/>
              </a:defRPr>
            </a:pPr>
            <a:r>
              <a:t>CELEBRATE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448056"/>
            <a:ext cx="548640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6A00"/>
                </a:solidFill>
                <a:latin typeface="Inter"/>
              </a:defRPr>
            </a:pPr>
            <a:r>
              <a:t>DODDY  /  BRAND SYSTEM v1.3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020824"/>
            <a:ext cx="164592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6700" b="1">
                <a:solidFill>
                  <a:srgbClr val="FF6A00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3008376"/>
            <a:ext cx="1005840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5900" b="1">
                <a:solidFill>
                  <a:srgbClr val="FFFFFF"/>
                </a:solidFill>
                <a:latin typeface="Inter"/>
              </a:defRPr>
            </a:pPr>
            <a:r>
              <a:t>Digital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4050791"/>
            <a:ext cx="914400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D9D9DB"/>
                </a:solidFill>
                <a:latin typeface="Inter"/>
              </a:defRPr>
            </a:pPr>
            <a:r>
              <a:t>Native-feeling utility. Instantly Doddy.</a:t>
            </a:r>
          </a:p>
        </p:txBody>
      </p:sp>
      <p:pic>
        <p:nvPicPr>
          <p:cNvPr id="7" name="Picture 6" descr="doddy_master_front_dark_adap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7112" y="1113739"/>
            <a:ext cx="2944368" cy="3533241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PRODUCT /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A character who is genuinely useful.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These are design-system mockups, not proof of implemented functionality.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39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oddy_ui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019" y="1783080"/>
            <a:ext cx="2149449" cy="44988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99616" y="6318504"/>
            <a:ext cx="2057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67676B"/>
                </a:solidFill>
                <a:latin typeface="Inter"/>
              </a:defRPr>
            </a:pPr>
            <a:r>
              <a:t>HOME</a:t>
            </a:r>
          </a:p>
        </p:txBody>
      </p:sp>
      <p:pic>
        <p:nvPicPr>
          <p:cNvPr id="10" name="Picture 9" descr="doddy_ui_mem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051" y="1783080"/>
            <a:ext cx="2149449" cy="44988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84648" y="6318504"/>
            <a:ext cx="2057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67676B"/>
                </a:solidFill>
                <a:latin typeface="Inter"/>
              </a:defRPr>
            </a:pPr>
            <a:r>
              <a:t>MEMORY</a:t>
            </a:r>
          </a:p>
        </p:txBody>
      </p:sp>
      <p:pic>
        <p:nvPicPr>
          <p:cNvPr id="12" name="Picture 11" descr="doddy_ui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9083" y="1783080"/>
            <a:ext cx="2149449" cy="44988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69680" y="6318504"/>
            <a:ext cx="2057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67676B"/>
                </a:solidFill>
                <a:latin typeface="Inter"/>
              </a:defRPr>
            </a:pPr>
            <a:r>
              <a:t>DARK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PRODUCT / 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Listening is not thinking.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Avoid misleading interface signals: microphone activity must map to actual state.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40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oddy_ui_liste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019" y="1783080"/>
            <a:ext cx="2149449" cy="44988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99616" y="6318504"/>
            <a:ext cx="2057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67676B"/>
                </a:solidFill>
                <a:latin typeface="Inter"/>
              </a:defRPr>
            </a:pPr>
            <a:r>
              <a:t>LISTENING</a:t>
            </a:r>
          </a:p>
        </p:txBody>
      </p:sp>
      <p:pic>
        <p:nvPicPr>
          <p:cNvPr id="10" name="Picture 9" descr="doddy_ui_thin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051" y="1783080"/>
            <a:ext cx="2149449" cy="44988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84648" y="6318504"/>
            <a:ext cx="2057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67676B"/>
                </a:solidFill>
                <a:latin typeface="Inter"/>
              </a:defRPr>
            </a:pPr>
            <a:r>
              <a:t>THINKING</a:t>
            </a:r>
          </a:p>
        </p:txBody>
      </p:sp>
      <p:pic>
        <p:nvPicPr>
          <p:cNvPr id="12" name="Picture 11" descr="doddy_ui_speak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9083" y="1783080"/>
            <a:ext cx="2149449" cy="44988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69680" y="6318504"/>
            <a:ext cx="2057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67676B"/>
                </a:solidFill>
                <a:latin typeface="Inter"/>
              </a:defRPr>
            </a:pPr>
            <a:r>
              <a:t>SPEAKING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PRODUCT / UTILITY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Helpful states, consistent surface.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Translation and actions should keep outcome details visible.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41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oddy_ui_trans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019" y="1783080"/>
            <a:ext cx="2149449" cy="44988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99616" y="6318504"/>
            <a:ext cx="2057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67676B"/>
                </a:solidFill>
                <a:latin typeface="Inter"/>
              </a:defRPr>
            </a:pPr>
            <a:r>
              <a:t>TRANSLATE</a:t>
            </a:r>
          </a:p>
        </p:txBody>
      </p:sp>
      <p:pic>
        <p:nvPicPr>
          <p:cNvPr id="10" name="Picture 9" descr="doddy_ui_a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051" y="1783080"/>
            <a:ext cx="2149449" cy="44988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84648" y="6318504"/>
            <a:ext cx="2057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67676B"/>
                </a:solidFill>
                <a:latin typeface="Inter"/>
              </a:defRPr>
            </a:pPr>
            <a:r>
              <a:t>ACTIONS</a:t>
            </a:r>
          </a:p>
        </p:txBody>
      </p:sp>
      <p:pic>
        <p:nvPicPr>
          <p:cNvPr id="12" name="Picture 11" descr="doddy_ui_mem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9083" y="1783080"/>
            <a:ext cx="2149449" cy="44988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69680" y="6318504"/>
            <a:ext cx="2057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67676B"/>
                </a:solidFill>
                <a:latin typeface="Inter"/>
              </a:defRPr>
            </a:pPr>
            <a:r>
              <a:t>MEMORY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PRODUCT /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Clarity from the first hello.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Use onboarding to establish utility, input modes and real privacy boundaries.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42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oddy_onboarding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019" y="1783080"/>
            <a:ext cx="2149449" cy="44988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99616" y="6318504"/>
            <a:ext cx="2057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67676B"/>
                </a:solidFill>
                <a:latin typeface="Inter"/>
              </a:defRPr>
            </a:pPr>
            <a:r>
              <a:t>STEP 01</a:t>
            </a:r>
          </a:p>
        </p:txBody>
      </p:sp>
      <p:pic>
        <p:nvPicPr>
          <p:cNvPr id="10" name="Picture 9" descr="doddy_onboarding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051" y="1783080"/>
            <a:ext cx="2149449" cy="44988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84648" y="6318504"/>
            <a:ext cx="2057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67676B"/>
                </a:solidFill>
                <a:latin typeface="Inter"/>
              </a:defRPr>
            </a:pPr>
            <a:r>
              <a:t>STEP 02</a:t>
            </a:r>
          </a:p>
        </p:txBody>
      </p:sp>
      <p:pic>
        <p:nvPicPr>
          <p:cNvPr id="12" name="Picture 11" descr="doddy_onboarding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9083" y="1783080"/>
            <a:ext cx="2149449" cy="44988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69680" y="6318504"/>
            <a:ext cx="2057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67676B"/>
                </a:solidFill>
                <a:latin typeface="Inter"/>
              </a:defRPr>
            </a:pPr>
            <a:r>
              <a:t>STEP 03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PRODUCT /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Be present when useful.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Widget examples are shortcut surfaces; Dynamic Island requires eligible system activity.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43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oddy_widget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644" y="2048255"/>
            <a:ext cx="2560320" cy="1280160"/>
          </a:xfrm>
          <a:prstGeom prst="rect">
            <a:avLst/>
          </a:prstGeom>
        </p:spPr>
      </p:pic>
      <p:pic>
        <p:nvPicPr>
          <p:cNvPr id="9" name="Picture 8" descr="doddy_widget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644" y="3163824"/>
            <a:ext cx="2560320" cy="1280160"/>
          </a:xfrm>
          <a:prstGeom prst="rect">
            <a:avLst/>
          </a:prstGeom>
        </p:spPr>
      </p:pic>
      <p:pic>
        <p:nvPicPr>
          <p:cNvPr id="10" name="Picture 9" descr="doddy_widget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3644" y="4279392"/>
            <a:ext cx="2560320" cy="12801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96712" y="2084831"/>
            <a:ext cx="5705856" cy="36393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7024" y="2286000"/>
            <a:ext cx="5294376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111115"/>
                </a:solidFill>
                <a:latin typeface="Inter"/>
              </a:defRPr>
            </a:pPr>
            <a:r>
              <a:t>PLATFORM GUARDRAILS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7024" y="2798063"/>
            <a:ext cx="5294376" cy="2834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No permanent always-on Dynamic Island mascot.</a:t>
            </a:r>
          </a:p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No automatic iPhone Back Tap configuration.</a:t>
            </a:r>
          </a:p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No microphone visuals without a live session.</a:t>
            </a:r>
          </a:p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Use system notifications sparingly.</a:t>
            </a:r>
          </a:p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Provide non-animated equivalents.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448056"/>
            <a:ext cx="548640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6A00"/>
                </a:solidFill>
                <a:latin typeface="Inter"/>
              </a:defRPr>
            </a:pPr>
            <a:r>
              <a:t>DODDY  /  BRAND SYSTEM v1.3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020824"/>
            <a:ext cx="164592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6700" b="1">
                <a:solidFill>
                  <a:srgbClr val="FF6A00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3008376"/>
            <a:ext cx="1005840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5900" b="1">
                <a:solidFill>
                  <a:srgbClr val="FFFFFF"/>
                </a:solidFill>
                <a:latin typeface="Inter"/>
              </a:defRPr>
            </a:pPr>
            <a:r>
              <a:t>Content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4050791"/>
            <a:ext cx="914400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D9D9DB"/>
                </a:solidFill>
                <a:latin typeface="Inter"/>
              </a:defRPr>
            </a:pPr>
            <a:r>
              <a:t>The first audience meets a character, not an interface.</a:t>
            </a:r>
          </a:p>
        </p:txBody>
      </p:sp>
      <p:pic>
        <p:nvPicPr>
          <p:cNvPr id="7" name="Picture 6" descr="doddy_master_front_dark_adap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7112" y="1113739"/>
            <a:ext cx="2944368" cy="3533241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CONTENT /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One world. Repeatable formats.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Social templates should remain editable and simple to animate.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45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oddy_social_squar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77440"/>
            <a:ext cx="2688336" cy="2688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19" y="5733288"/>
            <a:ext cx="256032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67676B"/>
                </a:solidFill>
                <a:latin typeface="Inter"/>
              </a:defRPr>
            </a:pPr>
            <a:r>
              <a:t>SOCIAL FRAME 01</a:t>
            </a:r>
          </a:p>
        </p:txBody>
      </p:sp>
      <p:pic>
        <p:nvPicPr>
          <p:cNvPr id="10" name="Picture 9" descr="doddy_social_square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152" y="2377440"/>
            <a:ext cx="2688336" cy="26883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593592" y="5733288"/>
            <a:ext cx="256032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67676B"/>
                </a:solidFill>
                <a:latin typeface="Inter"/>
              </a:defRPr>
            </a:pPr>
            <a:r>
              <a:t>SOCIAL FRAME 02</a:t>
            </a:r>
          </a:p>
        </p:txBody>
      </p:sp>
      <p:pic>
        <p:nvPicPr>
          <p:cNvPr id="12" name="Picture 11" descr="doddy_social_square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377440"/>
            <a:ext cx="2688336" cy="26883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55664" y="5733288"/>
            <a:ext cx="256032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67676B"/>
                </a:solidFill>
                <a:latin typeface="Inter"/>
              </a:defRPr>
            </a:pPr>
            <a:r>
              <a:t>SOCIAL FRAME 03</a:t>
            </a:r>
          </a:p>
        </p:txBody>
      </p:sp>
      <p:pic>
        <p:nvPicPr>
          <p:cNvPr id="14" name="Picture 13" descr="doddy_social_square_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6296" y="2377440"/>
            <a:ext cx="2688336" cy="26883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317736" y="5733288"/>
            <a:ext cx="256032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67676B"/>
                </a:solidFill>
                <a:latin typeface="Inter"/>
              </a:defRPr>
            </a:pPr>
            <a:r>
              <a:t>SOCIAL FRAME 04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CONTENT / STORYTELLING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Every episode has a small arc.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Don’t write generic AI feature ads starring a mascot.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46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57784" y="1920240"/>
            <a:ext cx="5376672" cy="17922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121408"/>
            <a:ext cx="4965192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11115"/>
                </a:solidFill>
                <a:latin typeface="Inter"/>
              </a:defRPr>
            </a:pPr>
            <a:r>
              <a:t>1.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633472"/>
            <a:ext cx="4965192" cy="9875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An ordinary moment the audience understands.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920240"/>
            <a:ext cx="5376672" cy="17922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121408"/>
            <a:ext cx="4965192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11115"/>
                </a:solidFill>
                <a:latin typeface="Inter"/>
              </a:defRPr>
            </a:pPr>
            <a:r>
              <a:t>2. REACTION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33472"/>
            <a:ext cx="4965192" cy="9875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Doddy has a specific, charming point of 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" y="3904487"/>
            <a:ext cx="5376672" cy="17922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4105655"/>
            <a:ext cx="4965192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11115"/>
                </a:solidFill>
                <a:latin typeface="Inter"/>
              </a:defRPr>
            </a:pPr>
            <a:r>
              <a:t>3.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4617720"/>
            <a:ext cx="4965192" cy="9875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He attempts something real, useful or funny.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3904487"/>
            <a:ext cx="5376672" cy="17922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105655"/>
            <a:ext cx="4965192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11115"/>
                </a:solidFill>
                <a:latin typeface="Inter"/>
              </a:defRPr>
            </a:pPr>
            <a:r>
              <a:t>4. PAYOFF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617720"/>
            <a:ext cx="4965192" cy="9875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A clear resolution, surprise or honest miss.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CONTENT / CHANNELS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Built for organic recognition.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Create multiple formats from the same source poses.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47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47088"/>
            <a:ext cx="30175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A44200"/>
                </a:solidFill>
                <a:latin typeface="Inter"/>
              </a:defRPr>
            </a:pPr>
            <a:r>
              <a:t>SHORT VIDEOS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58184" y="1847088"/>
            <a:ext cx="7205472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111115"/>
                </a:solidFill>
                <a:latin typeface="Inter"/>
              </a:defRPr>
            </a:pPr>
            <a:r>
              <a:t>Character everyday-life sketches; 10–35 seconds.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679192"/>
            <a:ext cx="30175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A44200"/>
                </a:solidFill>
                <a:latin typeface="Inter"/>
              </a:defRPr>
            </a:pPr>
            <a:r>
              <a:t>REACTION CLIPS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58184" y="2679192"/>
            <a:ext cx="7205472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111115"/>
                </a:solidFill>
                <a:latin typeface="Inter"/>
              </a:defRPr>
            </a:pPr>
            <a:r>
              <a:t>One expressive face, one instant point of view.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511296"/>
            <a:ext cx="30175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A44200"/>
                </a:solidFill>
                <a:latin typeface="Inter"/>
              </a:defRPr>
            </a:pPr>
            <a:r>
              <a:t>CAROUSELS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8184" y="3511296"/>
            <a:ext cx="7205472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111115"/>
                </a:solidFill>
                <a:latin typeface="Inter"/>
              </a:defRPr>
            </a:pPr>
            <a:r>
              <a:t>A familiar problem shown across 4–6 frames.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343400"/>
            <a:ext cx="30175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A44200"/>
                </a:solidFill>
                <a:latin typeface="Inter"/>
              </a:defRPr>
            </a:pPr>
            <a:r>
              <a:t>EXPLAINERS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8184" y="4343400"/>
            <a:ext cx="7205472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111115"/>
                </a:solidFill>
                <a:latin typeface="Inter"/>
              </a:defRPr>
            </a:pPr>
            <a:r>
              <a:t>Demonstrate useful product moments without inflated claims.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175504"/>
            <a:ext cx="30175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A44200"/>
                </a:solidFill>
                <a:latin typeface="Inter"/>
              </a:defRPr>
            </a:pPr>
            <a:r>
              <a:t>COMMUNITY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58184" y="5175504"/>
            <a:ext cx="7205472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111115"/>
                </a:solidFill>
                <a:latin typeface="Inter"/>
              </a:defRPr>
            </a:pPr>
            <a:r>
              <a:t>Respond through Doddy, with clear brand voice.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VOICE / EDITORIAL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A capable mate, not a know-it-all.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The more sensitive the subject, the less the character performs.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48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6072" y="1956816"/>
            <a:ext cx="5367528" cy="36301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57984"/>
            <a:ext cx="495604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111115"/>
                </a:solidFill>
                <a:latin typeface="Inter"/>
              </a:defRPr>
            </a:pPr>
            <a:r>
              <a:t>SOUNDS LIKE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670048"/>
            <a:ext cx="4956048" cy="28254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“Got it. Here’s what I found.”</a:t>
            </a:r>
          </a:p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“I might be wrong. Want me to check?”</a:t>
            </a:r>
          </a:p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“Want me to take another look?”</a:t>
            </a:r>
          </a:p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“Not sure yet. Here’s what I know.”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956816"/>
            <a:ext cx="5413248" cy="36301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157984"/>
            <a:ext cx="500176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111115"/>
                </a:solidFill>
                <a:latin typeface="Inter"/>
              </a:defRPr>
            </a:pPr>
            <a:r>
              <a:t>DOES NOT SOUND LIKE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70048"/>
            <a:ext cx="5001768" cy="28254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“Trust me, I know everything.”</a:t>
            </a:r>
          </a:p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“Done!” before an action succeeds.</a:t>
            </a:r>
          </a:p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Jokes about a serious health issue.</a:t>
            </a:r>
          </a:p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Unsolicited emotional dependence cues.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VOICE /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Personality adapts; principles do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Tune expressive level to the situation, not only a settings slider.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49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65376"/>
            <a:ext cx="2157984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A44200"/>
                </a:solidFill>
                <a:latin typeface="Inter"/>
              </a:defRPr>
            </a:pPr>
            <a:r>
              <a:t>EVERYDAY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865376"/>
            <a:ext cx="822960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111115"/>
                </a:solidFill>
                <a:latin typeface="Inter"/>
              </a:defRPr>
            </a:pPr>
            <a:r>
              <a:t>Short, direct, friendly; occasional humour.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06624"/>
            <a:ext cx="2157984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A44200"/>
                </a:solidFill>
                <a:latin typeface="Inter"/>
              </a:defRPr>
            </a:pPr>
            <a:r>
              <a:t>UNCERTAIN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706624"/>
            <a:ext cx="822960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111115"/>
                </a:solidFill>
                <a:latin typeface="Inter"/>
              </a:defRPr>
            </a:pPr>
            <a:r>
              <a:t>State uncertainty and what evidence would help.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547872"/>
            <a:ext cx="2157984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A44200"/>
                </a:solidFill>
                <a:latin typeface="Inter"/>
              </a:defRPr>
            </a:pPr>
            <a:r>
              <a:t>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547872"/>
            <a:ext cx="822960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111115"/>
                </a:solidFill>
                <a:latin typeface="Inter"/>
              </a:defRPr>
            </a:pPr>
            <a:r>
              <a:t>Confirm before consequential operations.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389120"/>
            <a:ext cx="2157984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A44200"/>
                </a:solidFill>
                <a:latin typeface="Inter"/>
              </a:defRPr>
            </a:pPr>
            <a:r>
              <a:t>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389120"/>
            <a:ext cx="822960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111115"/>
                </a:solidFill>
                <a:latin typeface="Inter"/>
              </a:defRPr>
            </a:pPr>
            <a:r>
              <a:t>Own the failure; offer a recoverable next step.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230368"/>
            <a:ext cx="2157984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A44200"/>
                </a:solidFill>
                <a:latin typeface="Inter"/>
              </a:defRPr>
            </a:pPr>
            <a:r>
              <a:t>SENSITIVE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5230368"/>
            <a:ext cx="822960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111115"/>
                </a:solidFill>
                <a:latin typeface="Inter"/>
              </a:defRPr>
            </a:pPr>
            <a:r>
              <a:t>Calm, factual, serious; no sarcasm.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448056"/>
            <a:ext cx="548640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6A00"/>
                </a:solidFill>
                <a:latin typeface="Inter"/>
              </a:defRPr>
            </a:pPr>
            <a:r>
              <a:t>DODDY  /  BRAND SYSTEM v1.3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020824"/>
            <a:ext cx="164592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6700" b="1">
                <a:solidFill>
                  <a:srgbClr val="FF6A00"/>
                </a:solidFill>
                <a:latin typeface="Inter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3008376"/>
            <a:ext cx="1005840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5900" b="1">
                <a:solidFill>
                  <a:srgbClr val="FFFFFF"/>
                </a:solidFill>
                <a:latin typeface="Inter"/>
              </a:defRPr>
            </a:pPr>
            <a:r>
              <a:t>Production &amp;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4050791"/>
            <a:ext cx="914400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D9D9DB"/>
                </a:solidFill>
                <a:latin typeface="Inter"/>
              </a:defRPr>
            </a:pPr>
            <a:r>
              <a:t>Files people can actually reuse.</a:t>
            </a:r>
          </a:p>
        </p:txBody>
      </p:sp>
      <p:pic>
        <p:nvPicPr>
          <p:cNvPr id="7" name="Picture 6" descr="doddy_master_front_dark_adap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7112" y="1113739"/>
            <a:ext cx="2944368" cy="3533241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GOVERNANCE / ACCESSIBILITY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Design for more people.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Test accessibility; do not claim that every screenshot is WCAG verified.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51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57784" y="1892807"/>
            <a:ext cx="5367528" cy="117957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93976"/>
            <a:ext cx="495604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11115"/>
                </a:solidFill>
                <a:latin typeface="Inter"/>
              </a:defRPr>
            </a:pPr>
            <a:r>
              <a:t>CONTRAST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606039"/>
            <a:ext cx="4956048" cy="3749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7676B"/>
                </a:solidFill>
                <a:latin typeface="Inter"/>
              </a:defRPr>
            </a:pPr>
            <a:r>
              <a:t>Check body, button and icon colours against actual surfaces.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35624" y="1892807"/>
            <a:ext cx="5367528" cy="117957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2093976"/>
            <a:ext cx="495604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11115"/>
                </a:solidFill>
                <a:latin typeface="Inter"/>
              </a:defRPr>
            </a:pPr>
            <a:r>
              <a:t>MOTION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2606039"/>
            <a:ext cx="4956048" cy="3749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7676B"/>
                </a:solidFill>
                <a:latin typeface="Inter"/>
              </a:defRPr>
            </a:pPr>
            <a:r>
              <a:t>Respect Reduce Motion; avoid endless attention-catching loops.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" y="3209544"/>
            <a:ext cx="5367528" cy="117957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3410712"/>
            <a:ext cx="495604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11115"/>
                </a:solidFill>
                <a:latin typeface="Inter"/>
              </a:defRPr>
            </a:pPr>
            <a:r>
              <a:t>TOUCH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922776"/>
            <a:ext cx="4956048" cy="3749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7676B"/>
                </a:solidFill>
                <a:latin typeface="Inter"/>
              </a:defRPr>
            </a:pPr>
            <a:r>
              <a:t>Target ≥44×44pt for primary interactive controls on iOS.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35624" y="3209544"/>
            <a:ext cx="5367528" cy="117957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3410712"/>
            <a:ext cx="495604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11115"/>
                </a:solidFill>
                <a:latin typeface="Inter"/>
              </a:defRPr>
            </a:pPr>
            <a:r>
              <a:t>SPEECH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922776"/>
            <a:ext cx="4956048" cy="3749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7676B"/>
                </a:solidFill>
                <a:latin typeface="Inter"/>
              </a:defRPr>
            </a:pPr>
            <a:r>
              <a:t>Provide transcript and captions for spoken content.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7784" y="4526279"/>
            <a:ext cx="5367528" cy="117957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4727447"/>
            <a:ext cx="495604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11115"/>
                </a:solidFill>
                <a:latin typeface="Inter"/>
              </a:defRPr>
            </a:pPr>
            <a:r>
              <a:t>COGNITION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5239512"/>
            <a:ext cx="4956048" cy="3749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7676B"/>
                </a:solidFill>
                <a:latin typeface="Inter"/>
              </a:defRPr>
            </a:pPr>
            <a:r>
              <a:t>Separate “understood” from “completed” in action flows.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35624" y="4526279"/>
            <a:ext cx="5367528" cy="117957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4727447"/>
            <a:ext cx="495604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11115"/>
                </a:solidFill>
                <a:latin typeface="Inter"/>
              </a:defRPr>
            </a:pPr>
            <a:r>
              <a:t>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5239512"/>
            <a:ext cx="4956048" cy="3749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7676B"/>
                </a:solidFill>
                <a:latin typeface="Inter"/>
              </a:defRPr>
            </a:pPr>
            <a:r>
              <a:t>Do not put critical UI labels in decorative handwriting.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GOVERNANCE /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Don’t fake understanding or memory.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Doddy can feel human without claiming human judgement or omniscience.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52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47672"/>
            <a:ext cx="5431536" cy="3794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148840"/>
            <a:ext cx="5020056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111115"/>
                </a:solidFill>
                <a:latin typeface="Inter"/>
              </a:defRPr>
            </a:pPr>
            <a:r>
              <a:t>TRANSPARENT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660904"/>
            <a:ext cx="5020056" cy="29900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Only indicate “listening” during active authorised audio capture.</a:t>
            </a:r>
          </a:p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Explain what context is being used.</a:t>
            </a:r>
          </a:p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Give simple permission controls.</a:t>
            </a:r>
          </a:p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Do not imply access to closed apps or screens.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947672"/>
            <a:ext cx="5413248" cy="3794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40"/>
            <a:ext cx="500176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111115"/>
                </a:solidFill>
                <a:latin typeface="Inter"/>
              </a:defRPr>
            </a:pPr>
            <a:r>
              <a:t>TRANSPARENT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60904"/>
            <a:ext cx="5001768" cy="29900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Differentiate suggestion from executed action.</a:t>
            </a:r>
          </a:p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Show source/time limitations where relevant.</a:t>
            </a:r>
          </a:p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Mark memory as explicitly saved when it is.</a:t>
            </a:r>
          </a:p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Support recovery from failures.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HANDOFF / DESIGN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A small system that scales.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Machine-readable starting tokens are included in JSON, alongside CSS-style names.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53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929384"/>
            <a:ext cx="5102352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11115"/>
                </a:solidFill>
                <a:latin typeface="Inter"/>
              </a:defRPr>
            </a:pPr>
            <a:r>
              <a:t>--doddy-orange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1929384"/>
            <a:ext cx="4315968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A44200"/>
                </a:solidFill>
                <a:latin typeface="Inter"/>
              </a:defRPr>
            </a:pPr>
            <a:r>
              <a:t>#FF6A00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569463"/>
            <a:ext cx="5102352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11115"/>
                </a:solidFill>
                <a:latin typeface="Inter"/>
              </a:defRPr>
            </a:pPr>
            <a:r>
              <a:t>--doddy-ink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1384" y="2569463"/>
            <a:ext cx="4315968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A44200"/>
                </a:solidFill>
                <a:latin typeface="Inter"/>
              </a:defRPr>
            </a:pPr>
            <a:r>
              <a:t>#111115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209544"/>
            <a:ext cx="5102352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11115"/>
                </a:solidFill>
                <a:latin typeface="Inter"/>
              </a:defRPr>
            </a:pPr>
            <a:r>
              <a:t>--doddy-paper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1384" y="3209544"/>
            <a:ext cx="4315968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A44200"/>
                </a:solidFill>
                <a:latin typeface="Inter"/>
              </a:defRPr>
            </a:pPr>
            <a:r>
              <a:t>#F8F4EB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849623"/>
            <a:ext cx="5102352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11115"/>
                </a:solidFill>
                <a:latin typeface="Inter"/>
              </a:defRPr>
            </a:pPr>
            <a:r>
              <a:t>--doddy-night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4" y="3849623"/>
            <a:ext cx="4315968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A44200"/>
                </a:solidFill>
                <a:latin typeface="Inter"/>
              </a:defRPr>
            </a:pPr>
            <a:r>
              <a:t>#16171C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489704"/>
            <a:ext cx="5102352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11115"/>
                </a:solidFill>
                <a:latin typeface="Inter"/>
              </a:defRPr>
            </a:pPr>
            <a:r>
              <a:t>--radius-card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4489704"/>
            <a:ext cx="4315968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A44200"/>
                </a:solidFill>
                <a:latin typeface="Inter"/>
              </a:defRPr>
            </a:pPr>
            <a:r>
              <a:t>24px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129783"/>
            <a:ext cx="5102352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11115"/>
                </a:solidFill>
                <a:latin typeface="Inter"/>
              </a:defRPr>
            </a:pPr>
            <a:r>
              <a:t>--motion-character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5129783"/>
            <a:ext cx="4315968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A44200"/>
                </a:solidFill>
                <a:latin typeface="Inter"/>
              </a:defRPr>
            </a:pPr>
            <a:r>
              <a:t>420ms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HANDOFF / NAMING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Find it. Inspect it. Reuse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SVG sources are independent vector compositions; PPTX text is editable.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54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911095"/>
            <a:ext cx="32004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1115"/>
                </a:solidFill>
                <a:latin typeface="Inter"/>
              </a:defRPr>
            </a:pPr>
            <a:r>
              <a:t>Character master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14215" y="1911095"/>
            <a:ext cx="7251192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doddy_master_front.svg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560320"/>
            <a:ext cx="32004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1115"/>
                </a:solidFill>
                <a:latin typeface="Inter"/>
              </a:defRPr>
            </a:pPr>
            <a:r>
              <a:t>Expression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14215" y="2560320"/>
            <a:ext cx="7251192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doddy_expression_&lt;emotion&gt;.svg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209544"/>
            <a:ext cx="32004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1115"/>
                </a:solidFill>
                <a:latin typeface="Inter"/>
              </a:defRPr>
            </a:pPr>
            <a:r>
              <a:t>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14215" y="3209544"/>
            <a:ext cx="7251192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doddy_pose_&lt;action&gt;.svg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3858768"/>
            <a:ext cx="32004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1115"/>
                </a:solidFill>
                <a:latin typeface="Inter"/>
              </a:defRPr>
            </a:pPr>
            <a:r>
              <a:t>App icon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14215" y="3858768"/>
            <a:ext cx="7251192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doddy_app_icon_1024.png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4507992"/>
            <a:ext cx="32004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1115"/>
                </a:solidFill>
                <a:latin typeface="Inter"/>
              </a:defRPr>
            </a:pPr>
            <a:r>
              <a:t>App screen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14215" y="4507992"/>
            <a:ext cx="7251192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doddy_ui_&lt;state&gt;.svg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5157216"/>
            <a:ext cx="32004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1115"/>
                </a:solidFill>
                <a:latin typeface="Inter"/>
              </a:defRPr>
            </a:pPr>
            <a:r>
              <a:t>Motion preview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14215" y="5157216"/>
            <a:ext cx="7251192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doddy_motion_&lt;state&gt;_preview.gif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HANDOFF / 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A real system needs checks.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Before publishing or handing to engineering: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55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57784" y="1901952"/>
            <a:ext cx="5367528" cy="11612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103120"/>
            <a:ext cx="495604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11115"/>
                </a:solidFill>
                <a:latin typeface="Inter"/>
              </a:defRPr>
            </a:pPr>
            <a:r>
              <a:t>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615184"/>
            <a:ext cx="4956048" cy="3566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7676B"/>
                </a:solidFill>
                <a:latin typeface="Inter"/>
              </a:defRPr>
            </a:pPr>
            <a:r>
              <a:t>Check proportions across artboards and dark background.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35624" y="1901952"/>
            <a:ext cx="5367528" cy="11612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2103120"/>
            <a:ext cx="495604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11115"/>
                </a:solidFill>
                <a:latin typeface="Inter"/>
              </a:defRPr>
            </a:pPr>
            <a:r>
              <a:t>FORMATS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2615184"/>
            <a:ext cx="4956048" cy="3566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7676B"/>
                </a:solidFill>
                <a:latin typeface="Inter"/>
              </a:defRPr>
            </a:pPr>
            <a:r>
              <a:t>Verify SVG renders, PNG alpha, GIF playback and ZIP integrity.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" y="3209544"/>
            <a:ext cx="5367528" cy="11612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3410712"/>
            <a:ext cx="495604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11115"/>
                </a:solidFill>
                <a:latin typeface="Inter"/>
              </a:defRPr>
            </a:pPr>
            <a:r>
              <a:t>DOCUMENT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922776"/>
            <a:ext cx="4956048" cy="3566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7676B"/>
                </a:solidFill>
                <a:latin typeface="Inter"/>
              </a:defRPr>
            </a:pPr>
            <a:r>
              <a:t>Review PDF visual output and editable slide copy.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35624" y="3209544"/>
            <a:ext cx="5367528" cy="11612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3410712"/>
            <a:ext cx="495604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11115"/>
                </a:solidFill>
                <a:latin typeface="Inter"/>
              </a:defRPr>
            </a:pPr>
            <a:r>
              <a:t>TRADEMARK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922776"/>
            <a:ext cx="4956048" cy="3566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7676B"/>
                </a:solidFill>
                <a:latin typeface="Inter"/>
              </a:defRPr>
            </a:pPr>
            <a:r>
              <a:t>Search for conflicts, clear naming and approve final outlined lettering.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7784" y="4517136"/>
            <a:ext cx="5367528" cy="11612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4718303"/>
            <a:ext cx="495604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11115"/>
                </a:solidFill>
                <a:latin typeface="Inter"/>
              </a:defRPr>
            </a:pPr>
            <a:r>
              <a:t>FONTS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5230368"/>
            <a:ext cx="4956048" cy="3566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7676B"/>
                </a:solidFill>
                <a:latin typeface="Inter"/>
              </a:defRPr>
            </a:pPr>
            <a:r>
              <a:t>Verify license conditions before commercial publishing.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35624" y="4517136"/>
            <a:ext cx="5367528" cy="11612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4718303"/>
            <a:ext cx="4956048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11115"/>
                </a:solidFill>
                <a:latin typeface="Inter"/>
              </a:defRPr>
            </a:pPr>
            <a:r>
              <a:t>PRODUCT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5230368"/>
            <a:ext cx="4956048" cy="3566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7676B"/>
                </a:solidFill>
                <a:latin typeface="Inter"/>
              </a:defRPr>
            </a:pPr>
            <a:r>
              <a:t>Validate platform constraints, accessibility and technical feasibility.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76809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44200"/>
                </a:solidFill>
                <a:latin typeface="Inter"/>
              </a:defRPr>
            </a:pPr>
            <a:r>
              <a:t>RELEASE /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21792"/>
            <a:ext cx="10607040" cy="6492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11115"/>
                </a:solidFill>
                <a:latin typeface="Inter"/>
              </a:defRPr>
            </a:pPr>
            <a:r>
              <a:t>What v1.3 is - and isn’t.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1069848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7676B"/>
                </a:solidFill>
                <a:latin typeface="Inter"/>
              </a:defRPr>
            </a:pPr>
            <a:r>
              <a:t>Transparent production status prevents expensive downstream assumptions.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446520"/>
            <a:ext cx="365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67676B"/>
                </a:solidFill>
                <a:latin typeface="Inter"/>
              </a:defRPr>
            </a:pPr>
            <a:r>
              <a:t>56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6528816"/>
            <a:ext cx="548640" cy="3200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5385816" cy="366674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39696"/>
            <a:ext cx="4974336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111115"/>
                </a:solidFill>
                <a:latin typeface="Inter"/>
              </a:defRPr>
            </a:pPr>
            <a:r>
              <a:t>DELIVERED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4974336" cy="2862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67676B"/>
                </a:solidFill>
                <a:latin typeface="Inter"/>
              </a:defRPr>
            </a:pPr>
            <a:r>
              <a:t>Vector character art and expressions.</a:t>
            </a:r>
          </a:p>
          <a:p>
            <a:pPr>
              <a:spcAft>
                <a:spcPts val="400"/>
              </a:spcAft>
              <a:defRPr sz="1600" b="0">
                <a:solidFill>
                  <a:srgbClr val="67676B"/>
                </a:solidFill>
                <a:latin typeface="Inter"/>
              </a:defRPr>
            </a:pPr>
            <a:r>
              <a:t>Vector pose and turnaround system.</a:t>
            </a:r>
          </a:p>
          <a:p>
            <a:pPr>
              <a:spcAft>
                <a:spcPts val="400"/>
              </a:spcAft>
              <a:defRPr sz="1600" b="0">
                <a:solidFill>
                  <a:srgbClr val="67676B"/>
                </a:solidFill>
                <a:latin typeface="Inter"/>
              </a:defRPr>
            </a:pPr>
            <a:r>
              <a:t>Logo and colour source files.</a:t>
            </a:r>
          </a:p>
          <a:p>
            <a:pPr>
              <a:spcAft>
                <a:spcPts val="400"/>
              </a:spcAft>
              <a:defRPr sz="1600" b="0">
                <a:solidFill>
                  <a:srgbClr val="67676B"/>
                </a:solidFill>
                <a:latin typeface="Inter"/>
              </a:defRPr>
            </a:pPr>
            <a:r>
              <a:t>Editable presentation + PDF.</a:t>
            </a:r>
          </a:p>
          <a:p>
            <a:pPr>
              <a:spcAft>
                <a:spcPts val="400"/>
              </a:spcAft>
              <a:defRPr sz="1600" b="0">
                <a:solidFill>
                  <a:srgbClr val="67676B"/>
                </a:solidFill>
                <a:latin typeface="Inter"/>
              </a:defRPr>
            </a:pPr>
            <a:r>
              <a:t>Social/app vector mockups.</a:t>
            </a:r>
          </a:p>
          <a:p>
            <a:pPr>
              <a:spcAft>
                <a:spcPts val="400"/>
              </a:spcAft>
              <a:defRPr sz="1600" b="0">
                <a:solidFill>
                  <a:srgbClr val="67676B"/>
                </a:solidFill>
                <a:latin typeface="Inter"/>
              </a:defRPr>
            </a:pPr>
            <a:r>
              <a:t>Motion preview GIFs + specs.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938528"/>
            <a:ext cx="5449824" cy="366674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2139696"/>
            <a:ext cx="5038344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111115"/>
                </a:solidFill>
                <a:latin typeface="Inter"/>
              </a:defRPr>
            </a:pPr>
            <a:r>
              <a:t>NEXT PRODUCTION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651760"/>
            <a:ext cx="5038344" cy="2862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67676B"/>
                </a:solidFill>
                <a:latin typeface="Inter"/>
              </a:defRPr>
            </a:pPr>
            <a:r>
              <a:t>Custom outlined final wordmark.</a:t>
            </a:r>
          </a:p>
          <a:p>
            <a:pPr>
              <a:spcAft>
                <a:spcPts val="400"/>
              </a:spcAft>
              <a:defRPr sz="1600" b="0">
                <a:solidFill>
                  <a:srgbClr val="67676B"/>
                </a:solidFill>
                <a:latin typeface="Inter"/>
              </a:defRPr>
            </a:pPr>
            <a:r>
              <a:t>Trademark and font legal review.</a:t>
            </a:r>
          </a:p>
          <a:p>
            <a:pPr>
              <a:spcAft>
                <a:spcPts val="400"/>
              </a:spcAft>
              <a:defRPr sz="1600" b="0">
                <a:solidFill>
                  <a:srgbClr val="67676B"/>
                </a:solidFill>
                <a:latin typeface="Inter"/>
              </a:defRPr>
            </a:pPr>
            <a:r>
              <a:t>Dedicated animator cleanup/rig.</a:t>
            </a:r>
          </a:p>
          <a:p>
            <a:pPr>
              <a:spcAft>
                <a:spcPts val="400"/>
              </a:spcAft>
              <a:defRPr sz="1600" b="0">
                <a:solidFill>
                  <a:srgbClr val="67676B"/>
                </a:solidFill>
                <a:latin typeface="Inter"/>
              </a:defRPr>
            </a:pPr>
            <a:r>
              <a:t>Platform-validated app interactions.</a:t>
            </a:r>
          </a:p>
          <a:p>
            <a:pPr>
              <a:spcAft>
                <a:spcPts val="400"/>
              </a:spcAft>
              <a:defRPr sz="1600" b="0">
                <a:solidFill>
                  <a:srgbClr val="67676B"/>
                </a:solidFill>
                <a:latin typeface="Inter"/>
              </a:defRPr>
            </a:pPr>
            <a:r>
              <a:t>Accessibility testing on real UI.</a:t>
            </a:r>
          </a:p>
          <a:p>
            <a:pPr>
              <a:spcAft>
                <a:spcPts val="400"/>
              </a:spcAft>
              <a:defRPr sz="1600" b="0">
                <a:solidFill>
                  <a:srgbClr val="67676B"/>
                </a:solidFill>
                <a:latin typeface="Inter"/>
              </a:defRPr>
            </a:pPr>
            <a:r>
              <a:t>Production asset optimisation.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9496" y="1298448"/>
            <a:ext cx="164592" cy="4279392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655064"/>
            <a:ext cx="6766560" cy="10149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6600" b="1">
                <a:solidFill>
                  <a:srgbClr val="FFFFFF"/>
                </a:solidFill>
                <a:latin typeface="Inter"/>
              </a:defRPr>
            </a:pPr>
            <a:r>
              <a:t>Good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2862072"/>
            <a:ext cx="6400800" cy="5577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3100" b="1">
                <a:solidFill>
                  <a:srgbClr val="FF6A00"/>
                </a:solidFill>
                <a:latin typeface="Inter"/>
              </a:defRPr>
            </a:pPr>
            <a:r>
              <a:t>Your mate in your pocket.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904487"/>
            <a:ext cx="5852160" cy="11155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C4C7CD"/>
                </a:solidFill>
                <a:latin typeface="Inter"/>
              </a:defRPr>
            </a:pPr>
            <a:r>
              <a:t>DODDY  /  BRAND GUIDELINES v1.3</a:t>
            </a:r>
          </a:p>
          <a:p>
            <a:pPr>
              <a:spcAft>
                <a:spcPts val="400"/>
              </a:spcAft>
              <a:defRPr sz="1700" b="0">
                <a:solidFill>
                  <a:srgbClr val="C4C7CD"/>
                </a:solidFill>
                <a:latin typeface="Inter"/>
              </a:defRPr>
            </a:pPr>
            <a:r>
              <a:t>Source art. Design tokens. Product examples. Motion.</a:t>
            </a:r>
          </a:p>
        </p:txBody>
      </p:sp>
      <p:pic>
        <p:nvPicPr>
          <p:cNvPr id="7" name="Picture 6" descr="doddy_master_front_dark_adap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987551"/>
            <a:ext cx="4114800" cy="4937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