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Relationship Id="rId8" Type="http://schemas.openxmlformats.org/officeDocument/2006/relationships/image" Target="../media/image36.png"/><Relationship Id="rId9" Type="http://schemas.openxmlformats.org/officeDocument/2006/relationships/image" Target="../media/image18.png"/><Relationship Id="rId10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image" Target="../media/image8.png"/><Relationship Id="rId7" Type="http://schemas.openxmlformats.org/officeDocument/2006/relationships/image" Target="../media/image39.png"/><Relationship Id="rId8" Type="http://schemas.openxmlformats.org/officeDocument/2006/relationships/image" Target="../media/image5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9.png"/><Relationship Id="rId6" Type="http://schemas.openxmlformats.org/officeDocument/2006/relationships/image" Target="../media/image45.png"/><Relationship Id="rId7" Type="http://schemas.openxmlformats.org/officeDocument/2006/relationships/image" Target="../media/image4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THE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6035040" cy="42976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25880"/>
            <a:ext cx="6583680" cy="150876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8600" b="1">
                <a:solidFill>
                  <a:srgbClr val="FF7A00"/>
                </a:solidFill>
                <a:latin typeface="Inter"/>
              </a:defRPr>
            </a:pPr>
            <a:r>
              <a:t>Doddy.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80944"/>
            <a:ext cx="6400800" cy="9144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100" b="1">
                <a:solidFill>
                  <a:srgbClr val="F7F2E9"/>
                </a:solidFill>
                <a:latin typeface="Inter"/>
              </a:defRPr>
            </a:pPr>
            <a:r>
              <a:t>Your mate in your pocket.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5303520" cy="6400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FF7A00"/>
                </a:solidFill>
                <a:latin typeface="Inter"/>
              </a:defRPr>
            </a:pPr>
            <a:r>
              <a:t>CHARACTER FIRST.  PRODUCT SECOND.</a:t>
            </a:r>
          </a:p>
        </p:txBody>
      </p:sp>
      <p:pic>
        <p:nvPicPr>
          <p:cNvPr id="10" name="Picture 9" descr="Doddy_master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24128"/>
            <a:ext cx="3108960" cy="4288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One character. Many places.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Identity  /  Character  /  Typography  /  Colour  /  Motion  /  Product  /  Social  /  Handoff</a:t>
            </a:r>
          </a:p>
        </p:txBody>
      </p:sp>
      <p:pic>
        <p:nvPicPr>
          <p:cNvPr id="9" name="Picture 8" descr="Doddy_pose_w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Brand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A capable mate, not a know-it-all.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Doddy turns practical intelligence into a recognisable, accessible companion. Friendly and lively when appropriate; precise, careful and clear when it matters.</a:t>
            </a:r>
          </a:p>
        </p:txBody>
      </p:sp>
      <p:pic>
        <p:nvPicPr>
          <p:cNvPr id="9" name="Picture 8" descr="Doddy_pose_holding_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Useful first. Memorable always.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The character creates familiarity through content. The product earns repeat use through clear value, speed, honesty and follow-through.</a:t>
            </a:r>
          </a:p>
        </p:txBody>
      </p:sp>
      <p:pic>
        <p:nvPicPr>
          <p:cNvPr id="9" name="Picture 8" descr="Doddy_pos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The character-first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Meet Doddy. Like Doddy. Use Doddy.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Short-form storytelling → recognition → product invitation → repeated useful moments. The brand never promises capabilities the app cannot deliver.</a:t>
            </a:r>
          </a:p>
        </p:txBody>
      </p:sp>
      <p:pic>
        <p:nvPicPr>
          <p:cNvPr id="9" name="Picture 8" descr="Doddy_pose_wal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Five personality traits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Friendly. Capable. Playful. Curious. Reliable.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Cheeky is an accent, never the default. The interaction always prioritises the user’s context, consent and task.</a:t>
            </a:r>
          </a:p>
        </p:txBody>
      </p:sp>
      <p:pic>
        <p:nvPicPr>
          <p:cNvPr id="9" name="Picture 8" descr="Doddy_pose_curi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What Doddy is /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A mate with judgment. Not a mascot with opinions.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YES: energetic, considerate, witty, helpful.  NO: intrusive, childish, overconfident, sarcastic in sensitive situations.</a:t>
            </a:r>
          </a:p>
        </p:txBody>
      </p:sp>
      <p:pic>
        <p:nvPicPr>
          <p:cNvPr id="9" name="Picture 8" descr="Doddy_pose_sup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Voice and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“Oi, what’s happening?”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Casual opening when appropriate. “Got it. Here’s what I found.” for competence. “That didn’t work. Want me to try another way?” when recovering from a failure.</a:t>
            </a:r>
          </a:p>
        </p:txBody>
      </p:sp>
      <p:pic>
        <p:nvPicPr>
          <p:cNvPr id="9" name="Picture 8" descr="Doddy_pose_w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Context sets the 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Humour is optional. Clarity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In health, legal, financial, distress and safety contexts: calm, accurate, respectful; no jokes, false certainty or invented action confirmations.</a:t>
            </a:r>
          </a:p>
        </p:txBody>
      </p:sp>
      <p:pic>
        <p:nvPicPr>
          <p:cNvPr id="9" name="Picture 8" descr="Doddy_pose_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Primary colour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029968" cy="2423160"/>
          </a:xfrm>
          <a:prstGeom prst="roundRect">
            <a:avLst>
              <a:gd name="adj" fmla="val 10000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471416"/>
            <a:ext cx="210312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0B0B0B"/>
                </a:solidFill>
                <a:latin typeface="Inter"/>
              </a:defRPr>
            </a:pPr>
            <a:r>
              <a:t>Doddy 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201168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0">
                <a:solidFill>
                  <a:srgbClr val="4B4B4B"/>
                </a:solidFill>
                <a:latin typeface="Inter"/>
              </a:defRPr>
            </a:pPr>
            <a:r>
              <a:t>#FF7A00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828800"/>
            <a:ext cx="2029968" cy="2423160"/>
          </a:xfrm>
          <a:prstGeom prst="roundRect">
            <a:avLst>
              <a:gd name="adj" fmla="val 10000"/>
            </a:avLst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4471416"/>
            <a:ext cx="210312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0B0B0B"/>
                </a:solidFill>
                <a:latin typeface="Inter"/>
              </a:defRPr>
            </a:pPr>
            <a:r>
              <a:t>Ink Black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4892040"/>
            <a:ext cx="201168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0">
                <a:solidFill>
                  <a:srgbClr val="4B4B4B"/>
                </a:solidFill>
                <a:latin typeface="Inter"/>
              </a:defRPr>
            </a:pPr>
            <a:r>
              <a:t>#0B0B0B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1828800"/>
            <a:ext cx="2029968" cy="2423160"/>
          </a:xfrm>
          <a:prstGeom prst="roundRect">
            <a:avLst>
              <a:gd name="adj" fmla="val 10000"/>
            </a:avLst>
          </a:prstGeom>
          <a:solidFill>
            <a:srgbClr val="F7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4471416"/>
            <a:ext cx="210312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0B0B0B"/>
                </a:solidFill>
                <a:latin typeface="Inter"/>
              </a:defRPr>
            </a:pPr>
            <a:r>
              <a:t>Warm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4892040"/>
            <a:ext cx="201168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0">
                <a:solidFill>
                  <a:srgbClr val="4B4B4B"/>
                </a:solidFill>
                <a:latin typeface="Inter"/>
              </a:defRPr>
            </a:pPr>
            <a:r>
              <a:t>#F7F2E9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1828800"/>
            <a:ext cx="2029968" cy="2423160"/>
          </a:xfrm>
          <a:prstGeom prst="roundRect">
            <a:avLst>
              <a:gd name="adj" fmla="val 10000"/>
            </a:avLst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6" y="4471416"/>
            <a:ext cx="210312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0B0B0B"/>
                </a:solidFill>
                <a:latin typeface="Inter"/>
              </a:defRPr>
            </a:pPr>
            <a:r>
              <a:t>Night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4892040"/>
            <a:ext cx="201168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0">
                <a:solidFill>
                  <a:srgbClr val="4B4B4B"/>
                </a:solidFill>
                <a:latin typeface="Inter"/>
              </a:defRPr>
            </a:pPr>
            <a:r>
              <a:t>#151515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6648" y="1828800"/>
            <a:ext cx="2029968" cy="242316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solidFill>
              <a:srgbClr val="0B0B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4471416"/>
            <a:ext cx="210312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0B0B0B"/>
                </a:solidFill>
                <a:latin typeface="Inter"/>
              </a:defRPr>
            </a:pPr>
            <a:r>
              <a:t>Paper White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4892040"/>
            <a:ext cx="201168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0">
                <a:solidFill>
                  <a:srgbClr val="4B4B4B"/>
                </a:solidFill>
                <a:latin typeface="Inter"/>
              </a:defRPr>
            </a:pPr>
            <a:r>
              <a:t>#FFFDF7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Accessible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Ink for words. Orange for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On warm paper, use near-black for body copy. Orange is for distinctive marks, emphasis and sufficiently large display elements—not small text.</a:t>
            </a:r>
          </a:p>
        </p:txBody>
      </p:sp>
      <p:pic>
        <p:nvPicPr>
          <p:cNvPr id="9" name="Picture 8" descr="Doddy_pose_po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Typography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100584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5000" b="1">
                <a:solidFill>
                  <a:srgbClr val="0B0B0B"/>
                </a:solidFill>
                <a:latin typeface="Inter"/>
              </a:defRPr>
            </a:pPr>
            <a:r>
              <a:t>Your mate in your pocket.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56432"/>
            <a:ext cx="7315200" cy="6400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300" b="1">
                <a:solidFill>
                  <a:srgbClr val="FF7A00"/>
                </a:solidFill>
                <a:latin typeface="Inter"/>
              </a:defRPr>
            </a:pPr>
            <a:r>
              <a:t>Inter Display Bold / 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33087"/>
            <a:ext cx="8229600" cy="62179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0B0B0B"/>
                </a:solidFill>
                <a:latin typeface="Inter"/>
              </a:defRPr>
            </a:pPr>
            <a:r>
              <a:t>Inter / interface  •  body  • 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800600"/>
            <a:ext cx="9144000" cy="5486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4B4B4B"/>
                </a:solidFill>
                <a:latin typeface="Inter"/>
              </a:defRPr>
            </a:pPr>
            <a:r>
              <a:t>Custom hand-inked display lettering is an art direction, not a license-free font asset.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Type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One expressive voice. One readable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Hero 60/62 • H1 40/44 • H2 32/36 • H3 24/30 • Body 16/24 • Label 13/18. Illustration-like headlines should remain hand-crafted.</a:t>
            </a:r>
          </a:p>
        </p:txBody>
      </p:sp>
      <p:pic>
        <p:nvPicPr>
          <p:cNvPr id="9" name="Picture 8" descr="Doddy_pose_po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Logo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3611880" cy="32004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wordmark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42032"/>
            <a:ext cx="3054096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230368"/>
            <a:ext cx="274320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0B0B0B"/>
                </a:solidFill>
                <a:latin typeface="Inter"/>
              </a:defRPr>
            </a:pPr>
            <a:r>
              <a:t>Primary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47088"/>
            <a:ext cx="3611880" cy="32004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wordmark_seco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42032"/>
            <a:ext cx="3054096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27448" y="5230368"/>
            <a:ext cx="274320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0B0B0B"/>
                </a:solidFill>
                <a:latin typeface="Inter"/>
              </a:defRPr>
            </a:pPr>
            <a:r>
              <a:t>Secondary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47088"/>
            <a:ext cx="3611880" cy="3200400"/>
          </a:xfrm>
          <a:prstGeom prst="roundRect">
            <a:avLst>
              <a:gd name="adj" fmla="val 10000"/>
            </a:avLst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wordmark_rever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542032"/>
            <a:ext cx="3054096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22208" y="5230368"/>
            <a:ext cx="2743200" cy="310896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0B0B0B"/>
                </a:solidFill>
                <a:latin typeface="Inter"/>
              </a:defRPr>
            </a:pPr>
            <a:r>
              <a:t>Reversed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Logo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A marker, not a paragraph.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Use sufficient clear space equal to the character eye width. Never distort, add glow/shadows, set tiny slogans, or redraw the eyes inconsistently.</a:t>
            </a:r>
          </a:p>
        </p:txBody>
      </p:sp>
      <p:pic>
        <p:nvPicPr>
          <p:cNvPr id="9" name="Picture 8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Character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16</a:t>
            </a:r>
          </a:p>
        </p:txBody>
      </p:sp>
      <p:pic>
        <p:nvPicPr>
          <p:cNvPr id="7" name="Picture 6" descr="Doddy_master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89888"/>
            <a:ext cx="3291840" cy="4553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1645920"/>
            <a:ext cx="201168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100" b="1">
                <a:solidFill>
                  <a:srgbClr val="FF7A00"/>
                </a:solidFill>
                <a:latin typeface="Inter"/>
              </a:defRPr>
            </a:pPr>
            <a:r>
              <a:t>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645920"/>
            <a:ext cx="4069080" cy="4389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0B0B0B"/>
                </a:solidFill>
                <a:latin typeface="Inter"/>
              </a:defRPr>
            </a:pPr>
            <a:r>
              <a:t>Organic, near-round; recognisable in tiny avatar.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14600"/>
            <a:ext cx="201168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100" b="1">
                <a:solidFill>
                  <a:srgbClr val="FF7A00"/>
                </a:solidFill>
                <a:latin typeface="Inter"/>
              </a:defRPr>
            </a:pPr>
            <a:r>
              <a:t>Eyes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2514600"/>
            <a:ext cx="4069080" cy="4389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0B0B0B"/>
                </a:solidFill>
                <a:latin typeface="Inter"/>
              </a:defRPr>
            </a:pPr>
            <a:r>
              <a:t>Two filled vertical ovals with deliberate asymmetry.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383280"/>
            <a:ext cx="201168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100" b="1">
                <a:solidFill>
                  <a:srgbClr val="FF7A00"/>
                </a:solidFill>
                <a:latin typeface="Inter"/>
              </a:defRPr>
            </a:pPr>
            <a:r>
              <a:t>Smile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3383280"/>
            <a:ext cx="4069080" cy="4389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0B0B0B"/>
                </a:solidFill>
                <a:latin typeface="Inter"/>
              </a:defRPr>
            </a:pPr>
            <a:r>
              <a:t>One curved, slightly off-centre stroke.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251959"/>
            <a:ext cx="201168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100" b="1">
                <a:solidFill>
                  <a:srgbClr val="FF7A00"/>
                </a:solidFill>
                <a:latin typeface="Inter"/>
              </a:defRPr>
            </a:pPr>
            <a:r>
              <a:t>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4251959"/>
            <a:ext cx="4069080" cy="4389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0B0B0B"/>
                </a:solidFill>
                <a:latin typeface="Inter"/>
              </a:defRPr>
            </a:pPr>
            <a:r>
              <a:t>Flexible ink line; minimal anatomy.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120640"/>
            <a:ext cx="2011680" cy="34747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100" b="1">
                <a:solidFill>
                  <a:srgbClr val="FF7A00"/>
                </a:solidFill>
                <a:latin typeface="Inter"/>
              </a:defRPr>
            </a:pPr>
            <a:r>
              <a:t>Accessories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5120640"/>
            <a:ext cx="4069080" cy="4389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500" b="0">
                <a:solidFill>
                  <a:srgbClr val="0B0B0B"/>
                </a:solidFill>
                <a:latin typeface="Inter"/>
              </a:defRPr>
            </a:pPr>
            <a:r>
              <a:t>Oversized trainers + backpack. Basketball optional.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Proportions and stroke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3 head-heights. One unmistakable 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Character canvas: 420 × 580 units. Head ~185 units wide, core outlines 8–14 units. Rounded ink ends; imperfect but intentional geometry.</a:t>
            </a:r>
          </a:p>
        </p:txBody>
      </p:sp>
      <p:pic>
        <p:nvPicPr>
          <p:cNvPr id="9" name="Picture 8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647188" cy="466344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55064"/>
            <a:ext cx="2464308" cy="3403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007607"/>
            <a:ext cx="2519172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Front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8708" y="1600200"/>
            <a:ext cx="2647188" cy="466344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three_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48" y="1655064"/>
            <a:ext cx="2464308" cy="3403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42716" y="6007607"/>
            <a:ext cx="2519172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Three-Quarter Draft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2647188" cy="466344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three_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55064"/>
            <a:ext cx="2464308" cy="3403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6007607"/>
            <a:ext cx="2519172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9116" y="1600200"/>
            <a:ext cx="2647188" cy="466344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1655064"/>
            <a:ext cx="2464308" cy="3403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93124" y="6007607"/>
            <a:ext cx="2519172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Expressions  /  01–10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face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55064"/>
            <a:ext cx="1909267" cy="1909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Happy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3667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face_exci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107" y="1655064"/>
            <a:ext cx="1909267" cy="1909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7675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Excited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face_curio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1655064"/>
            <a:ext cx="1909267" cy="19092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07838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Curious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3993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face_thi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433" y="1655064"/>
            <a:ext cx="1909267" cy="19092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8001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Thinking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4156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face_confus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596" y="1655064"/>
            <a:ext cx="1909267" cy="19092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48164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Confused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ddy_face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041647"/>
            <a:ext cx="1909267" cy="190926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Cheeky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3667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ddy_face_laugh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107" y="4041647"/>
            <a:ext cx="1909267" cy="19092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87675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Laughing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3830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oddy_face_surpris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5270" y="4041647"/>
            <a:ext cx="1909267" cy="190926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07838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Surprised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3993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ddy_face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433" y="4041647"/>
            <a:ext cx="1909267" cy="19092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28001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Proud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4156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oddy_face_focu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5596" y="4041647"/>
            <a:ext cx="1909267" cy="190926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48164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Focused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Expressions  /  11–20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face_conce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55064"/>
            <a:ext cx="1909267" cy="1909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Concerned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3667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face_rela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107" y="1655064"/>
            <a:ext cx="1909267" cy="1909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7675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Relaxed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face_rela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270" y="1655064"/>
            <a:ext cx="1909267" cy="19092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07838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Tired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3993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face_determi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433" y="1655064"/>
            <a:ext cx="1909267" cy="19092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8001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Determined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4156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face_impre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596" y="1655064"/>
            <a:ext cx="1909267" cy="19092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48164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Impressed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ddy_face_scept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041647"/>
            <a:ext cx="1909267" cy="190926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Sceptical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3667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ddy_face_embarrass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107" y="4041647"/>
            <a:ext cx="1909267" cy="19092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87675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Embarrassed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3830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oddy_face_celebra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5270" y="4041647"/>
            <a:ext cx="1909267" cy="190926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07838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Celebrating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3993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ddy_face_sa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5433" y="4041647"/>
            <a:ext cx="1909267" cy="19092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28001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4156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oddy_face_supporti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5596" y="4041647"/>
            <a:ext cx="1909267" cy="190926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48164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Supportive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Expressions  /  21–30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face_impre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55064"/>
            <a:ext cx="1909267" cy="1909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Listening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3667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face_expl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107" y="1655064"/>
            <a:ext cx="1909267" cy="1909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7675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Explaining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face_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270" y="1655064"/>
            <a:ext cx="1909267" cy="19092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07838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3993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face_celebra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433" y="1655064"/>
            <a:ext cx="1909267" cy="19092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8001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Joyful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4156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face_lo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596" y="1655064"/>
            <a:ext cx="1909267" cy="190926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48164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Love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ddy_face_s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041647"/>
            <a:ext cx="1909267" cy="190926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Disappointed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3667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ddy_face_impati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5107" y="4041647"/>
            <a:ext cx="1909267" cy="19092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87675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Impatient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3830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oddy_face_curio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35270" y="4041647"/>
            <a:ext cx="1909267" cy="190926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07838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Questioning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3993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ddy_face_expl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433" y="4041647"/>
            <a:ext cx="1909267" cy="19092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28001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Confident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4156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oddy_face_flatte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5596" y="4041647"/>
            <a:ext cx="1909267" cy="190926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48164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Flattered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Pose library  /  01–09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86" y="1655064"/>
            <a:ext cx="1410383" cy="1947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Neutral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3667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pose_wav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9" y="1655064"/>
            <a:ext cx="1410383" cy="1947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7675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Waving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pose_poin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712" y="1655064"/>
            <a:ext cx="1410383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07838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Pointing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3993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pose_using_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875" y="1655064"/>
            <a:ext cx="1410383" cy="19476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8001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Using 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4156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pose_thin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038" y="1655064"/>
            <a:ext cx="1410383" cy="1947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48164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Thinking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ddy_pose_celebrat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86" y="4041647"/>
            <a:ext cx="1410383" cy="19476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Celebrating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3667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ddy_pose_wal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549" y="4041647"/>
            <a:ext cx="1410383" cy="1947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87675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Walking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3830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oddy_pose_run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712" y="4041647"/>
            <a:ext cx="1410383" cy="19476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07838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Running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3993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ddy_pose_dribbl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875" y="4041647"/>
            <a:ext cx="1410383" cy="19476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28001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Dribbling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Pose library  /  10–18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pose_ju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86" y="1655064"/>
            <a:ext cx="1410383" cy="1947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Jumping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3667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pose_s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9" y="1655064"/>
            <a:ext cx="1410383" cy="1947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7675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pose_liste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712" y="1655064"/>
            <a:ext cx="1410383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07838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Listening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3993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pose_poin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875" y="1655064"/>
            <a:ext cx="1410383" cy="19476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8001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Explaining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4156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pose_rea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038" y="1655064"/>
            <a:ext cx="1410383" cy="1947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48164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Reading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ddy_pose_wor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86" y="4041647"/>
            <a:ext cx="1410383" cy="19476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Working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3667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ddy_pose_res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549" y="4041647"/>
            <a:ext cx="1410383" cy="1947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87675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Resting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3830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oddy_pose_greet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712" y="4041647"/>
            <a:ext cx="1410383" cy="19476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07838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Greeting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3993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oddy_pose_holding_b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875" y="4041647"/>
            <a:ext cx="1410383" cy="19476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28001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Holding Ball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Pose library  /  19–25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pose_shooting_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86" y="1655064"/>
            <a:ext cx="1410383" cy="1947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Shooting 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3667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pose_dan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9" y="1655064"/>
            <a:ext cx="1410383" cy="1947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87675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Dancing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3830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pose_curio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712" y="1655064"/>
            <a:ext cx="1410383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07838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Curious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3993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pose_support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875" y="1655064"/>
            <a:ext cx="1410383" cy="19476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28001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Supporting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84156" y="1600200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pose_confid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038" y="1655064"/>
            <a:ext cx="1410383" cy="1947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48164" y="3621024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Confident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Doddy_pose_search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386" y="4041647"/>
            <a:ext cx="1410383" cy="19476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Searching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3667" y="3986783"/>
            <a:ext cx="2092147" cy="2276856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oddy_pose_thumbs_u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4549" y="4041647"/>
            <a:ext cx="1410383" cy="1947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87675" y="6007607"/>
            <a:ext cx="1964131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Thumbs 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Signature accessories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600200"/>
            <a:ext cx="5422392" cy="466344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baske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1655064"/>
            <a:ext cx="4334255" cy="4334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007607"/>
            <a:ext cx="5294376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Basketball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600200"/>
            <a:ext cx="5422392" cy="466344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back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772" y="1655064"/>
            <a:ext cx="3852671" cy="43342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6007607"/>
            <a:ext cx="5294376" cy="210312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0">
                <a:solidFill>
                  <a:srgbClr val="0B0B0B"/>
                </a:solidFill>
                <a:latin typeface="Inter"/>
              </a:defRPr>
            </a:pPr>
            <a:r>
              <a:t>Orange Backpack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Character must-haves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Keep the face. Keep the shoes.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Round ivory head; black oval eyes; asymmetric smile; expressive three-stroke tuft; orange pack; oversized orange/white trainers. Hand-made energy at every scale.</a:t>
            </a:r>
          </a:p>
        </p:txBody>
      </p:sp>
      <p:pic>
        <p:nvPicPr>
          <p:cNvPr id="9" name="Picture 8" descr="Doddy_pose_w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Character restrictions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Never generic. Never shiny.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No 3D robots, polished gradients, detailed fingers, realistic hair, fluctuating head geometry or unapproved pupils. Orange supports identity, not every pixel.</a:t>
            </a:r>
          </a:p>
        </p:txBody>
      </p:sp>
      <p:pic>
        <p:nvPicPr>
          <p:cNvPr id="9" name="Picture 8" descr="Doddy_pose_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Adaptive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Full character → head → simplified glyph.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≥128 px: full body. 64–127 px: head and orange badge. 32–63 px: simplified head. &lt;32 px: tested monochrome glyph. Validate actual pixel size.</a:t>
            </a:r>
          </a:p>
        </p:txBody>
      </p:sp>
      <p:pic>
        <p:nvPicPr>
          <p:cNvPr id="9" name="Picture 8" descr="Doddy_pose_po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VISUAL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Supporting graphic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856231"/>
            <a:ext cx="2048256" cy="3246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ddy_light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331720"/>
            <a:ext cx="155448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5212080"/>
            <a:ext cx="18288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0B0B0B"/>
                </a:solidFill>
                <a:latin typeface="Inter"/>
              </a:defRPr>
            </a:pPr>
            <a:r>
              <a:t>Lightning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856231"/>
            <a:ext cx="2048256" cy="3246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ddy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2331720"/>
            <a:ext cx="155448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35808" y="5212080"/>
            <a:ext cx="18288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0B0B0B"/>
                </a:solidFill>
                <a:latin typeface="Inter"/>
              </a:defRPr>
            </a:pPr>
            <a:r>
              <a:t>Arrow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56231"/>
            <a:ext cx="2048256" cy="3246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ddy_swoo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331720"/>
            <a:ext cx="155448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3520" y="5212080"/>
            <a:ext cx="18288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0B0B0B"/>
                </a:solidFill>
                <a:latin typeface="Inter"/>
              </a:defRPr>
            </a:pPr>
            <a:r>
              <a:t>Swoosh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856231"/>
            <a:ext cx="2048256" cy="3246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ddy_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2331720"/>
            <a:ext cx="1554480" cy="1417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71231" y="5212080"/>
            <a:ext cx="18288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0B0B0B"/>
                </a:solidFill>
                <a:latin typeface="Inter"/>
              </a:defRPr>
            </a:pPr>
            <a:r>
              <a:t>Star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56064" y="1856231"/>
            <a:ext cx="2048256" cy="324612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ddy_cr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664" y="2331720"/>
            <a:ext cx="1554480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38944" y="5212080"/>
            <a:ext cx="18288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0B0B0B"/>
                </a:solidFill>
                <a:latin typeface="Inter"/>
              </a:defRPr>
            </a:pPr>
            <a:r>
              <a:t>Crown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VISUAL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Light and dark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The same mate. Different 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Warm Paper supports illustration and content. Night Ink supports voice, ambience and cinematic moments. Preserve colour semantics in both.</a:t>
            </a:r>
          </a:p>
        </p:txBody>
      </p:sp>
      <p:pic>
        <p:nvPicPr>
          <p:cNvPr id="9" name="Picture 8" descr="Doddy_pose_neu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App icon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31</a:t>
            </a:r>
          </a:p>
        </p:txBody>
      </p:sp>
      <p:pic>
        <p:nvPicPr>
          <p:cNvPr id="7" name="Picture 6" descr="Doddy_AppIcon_1024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828800"/>
            <a:ext cx="260604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432" y="4736592"/>
            <a:ext cx="265176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0B0B0B"/>
                </a:solidFill>
                <a:latin typeface="Inter"/>
              </a:defRPr>
            </a:pPr>
            <a:r>
              <a:t>Orange</a:t>
            </a:r>
          </a:p>
        </p:txBody>
      </p:sp>
      <p:pic>
        <p:nvPicPr>
          <p:cNvPr id="9" name="Picture 8" descr="Doddy_AppIcon_1024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828800"/>
            <a:ext cx="260604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28032" y="4736592"/>
            <a:ext cx="265176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0B0B0B"/>
                </a:solidFill>
                <a:latin typeface="Inter"/>
              </a:defRPr>
            </a:pPr>
            <a:r>
              <a:t>Dark</a:t>
            </a:r>
          </a:p>
        </p:txBody>
      </p:sp>
      <p:pic>
        <p:nvPicPr>
          <p:cNvPr id="11" name="Picture 10" descr="Doddy_AppIcon_1024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828800"/>
            <a:ext cx="260604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85632" y="4736592"/>
            <a:ext cx="2651760" cy="4114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800" b="1">
                <a:solidFill>
                  <a:srgbClr val="0B0B0B"/>
                </a:solidFill>
                <a:latin typeface="Inter"/>
              </a:defRPr>
            </a:pPr>
            <a:r>
              <a:t>Paper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App state  / 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32</a:t>
            </a:r>
          </a:p>
        </p:txBody>
      </p:sp>
      <p:pic>
        <p:nvPicPr>
          <p:cNvPr id="7" name="Picture 6" descr="Doddy_home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21488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901952"/>
            <a:ext cx="722376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500" b="1">
                <a:solidFill>
                  <a:srgbClr val="FF7A00"/>
                </a:solidFill>
                <a:latin typeface="Inter"/>
              </a:defRPr>
            </a:pPr>
            <a:r>
              <a:t>Ready when you 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94176"/>
            <a:ext cx="68580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F7F2E9"/>
                </a:solidFill>
                <a:latin typeface="Inter"/>
              </a:defRPr>
            </a:pPr>
            <a:r>
              <a:t>A branded illustration supports the interface. Accessible labels and actual system state remain essential.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App state  /  Listening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33</a:t>
            </a:r>
          </a:p>
        </p:txBody>
      </p:sp>
      <p:pic>
        <p:nvPicPr>
          <p:cNvPr id="7" name="Picture 6" descr="Doddy_listenin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21488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901952"/>
            <a:ext cx="722376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500" b="1">
                <a:solidFill>
                  <a:srgbClr val="FF7A00"/>
                </a:solidFill>
                <a:latin typeface="Inter"/>
              </a:defRPr>
            </a:pPr>
            <a:r>
              <a:t>Signal reflects real audio.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94176"/>
            <a:ext cx="68580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F7F2E9"/>
                </a:solidFill>
                <a:latin typeface="Inter"/>
              </a:defRPr>
            </a:pPr>
            <a:r>
              <a:t>A branded illustration supports the interface. Accessible labels and actual system state remain essential.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App state  / 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34</a:t>
            </a:r>
          </a:p>
        </p:txBody>
      </p:sp>
      <p:pic>
        <p:nvPicPr>
          <p:cNvPr id="7" name="Picture 6" descr="Doddy_thinkin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21488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901952"/>
            <a:ext cx="722376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500" b="1">
                <a:solidFill>
                  <a:srgbClr val="FF7A00"/>
                </a:solidFill>
                <a:latin typeface="Inter"/>
              </a:defRPr>
            </a:pPr>
            <a:r>
              <a:t>Visible progress, not spinner theatre.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94176"/>
            <a:ext cx="68580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F7F2E9"/>
                </a:solidFill>
                <a:latin typeface="Inter"/>
              </a:defRPr>
            </a:pPr>
            <a:r>
              <a:t>A branded illustration supports the interface. Accessible labels and actual system state remain essential.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App state  /  Speaking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35</a:t>
            </a:r>
          </a:p>
        </p:txBody>
      </p:sp>
      <p:pic>
        <p:nvPicPr>
          <p:cNvPr id="7" name="Picture 6" descr="Doddy_speakin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21488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901952"/>
            <a:ext cx="722376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500" b="1">
                <a:solidFill>
                  <a:srgbClr val="FF7A00"/>
                </a:solidFill>
                <a:latin typeface="Inter"/>
              </a:defRPr>
            </a:pPr>
            <a:r>
              <a:t>The answer is the hero.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94176"/>
            <a:ext cx="68580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F7F2E9"/>
                </a:solidFill>
                <a:latin typeface="Inter"/>
              </a:defRPr>
            </a:pPr>
            <a:r>
              <a:t>A branded illustration supports the interface. Accessible labels and actual system state remain essential.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App state  / 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36</a:t>
            </a:r>
          </a:p>
        </p:txBody>
      </p:sp>
      <p:pic>
        <p:nvPicPr>
          <p:cNvPr id="7" name="Picture 6" descr="Doddy_acti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21488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901952"/>
            <a:ext cx="722376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500" b="1">
                <a:solidFill>
                  <a:srgbClr val="FF7A00"/>
                </a:solidFill>
                <a:latin typeface="Inter"/>
              </a:defRPr>
            </a:pPr>
            <a:r>
              <a:t>Show the action stage accurately.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94176"/>
            <a:ext cx="68580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F7F2E9"/>
                </a:solidFill>
                <a:latin typeface="Inter"/>
              </a:defRPr>
            </a:pPr>
            <a:r>
              <a:t>A branded illustration supports the interface. Accessible labels and actual system state remain essential.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App state  / 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37</a:t>
            </a:r>
          </a:p>
        </p:txBody>
      </p:sp>
      <p:pic>
        <p:nvPicPr>
          <p:cNvPr id="7" name="Picture 6" descr="Doddy_erro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21488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0" y="1901952"/>
            <a:ext cx="722376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500" b="1">
                <a:solidFill>
                  <a:srgbClr val="FF7A00"/>
                </a:solidFill>
                <a:latin typeface="Inter"/>
              </a:defRPr>
            </a:pPr>
            <a:r>
              <a:t>Recover without blame or nonsense.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94176"/>
            <a:ext cx="6858000" cy="11887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2000" b="0">
                <a:solidFill>
                  <a:srgbClr val="F7F2E9"/>
                </a:solidFill>
                <a:latin typeface="Inter"/>
              </a:defRPr>
            </a:pPr>
            <a:r>
              <a:t>A branded illustration supports the interface. Accessible labels and actual system state remain essential.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Onboarding and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Earn trust before asking for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Explain what Doddy can do and what he cannot read automatically. Back Tap requires user setup. Provide clear voice/memory/data controls.</a:t>
            </a:r>
          </a:p>
        </p:txBody>
      </p:sp>
      <p:pic>
        <p:nvPicPr>
          <p:cNvPr id="9" name="Picture 8" descr="Doddy_pose_gr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System integration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Helpful within iOS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Dynamic Island and Live Activities are system- and activity-scoped. Neither provides a permanent free-running mascot. Do not depict unsupported automation as shipped functionality.</a:t>
            </a:r>
          </a:p>
        </p:txBody>
      </p:sp>
      <p:pic>
        <p:nvPicPr>
          <p:cNvPr id="9" name="Picture 8" descr="Doddy_pose_po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Motion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Never teleport. Always explain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Invoke instantly; keep spatial continuity; listen to actual microphone data; allow interruptions; distinguish proposed versus completed actions.</a:t>
            </a:r>
          </a:p>
        </p:txBody>
      </p:sp>
      <p:pic>
        <p:nvPicPr>
          <p:cNvPr id="9" name="Picture 8" descr="Doddy_pose_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Motion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10744200" cy="6400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37360"/>
            <a:ext cx="256032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FF7A00"/>
                </a:solidFill>
                <a:latin typeface="Inter"/>
              </a:defRPr>
            </a:pPr>
            <a:r>
              <a:t>ACKNOWLEDGE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19072"/>
            <a:ext cx="256032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1">
                <a:solidFill>
                  <a:srgbClr val="0B0B0B"/>
                </a:solidFill>
                <a:latin typeface="Inter"/>
              </a:defRPr>
            </a:pPr>
            <a:r>
              <a:t>100–140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19072"/>
            <a:ext cx="365760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0B0B0B"/>
                </a:solidFill>
                <a:latin typeface="Inter"/>
              </a:defRPr>
            </a:pPr>
            <a:r>
              <a:t>Input received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41448"/>
            <a:ext cx="10744200" cy="6400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578608"/>
            <a:ext cx="256032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FF7A00"/>
                </a:solidFill>
                <a:latin typeface="Inter"/>
              </a:defRPr>
            </a:pPr>
            <a:r>
              <a:t>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60320"/>
            <a:ext cx="256032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1">
                <a:solidFill>
                  <a:srgbClr val="0B0B0B"/>
                </a:solidFill>
                <a:latin typeface="Inter"/>
              </a:defRPr>
            </a:pPr>
            <a:r>
              <a:t>240–320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365760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0B0B0B"/>
                </a:solidFill>
                <a:latin typeface="Inter"/>
              </a:defRPr>
            </a:pPr>
            <a:r>
              <a:t>Character arrival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82696"/>
            <a:ext cx="10744200" cy="6400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419856"/>
            <a:ext cx="256032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FF7A00"/>
                </a:solidFill>
                <a:latin typeface="Inter"/>
              </a:defRPr>
            </a:pPr>
            <a:r>
              <a:t>THINK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01568"/>
            <a:ext cx="256032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1">
                <a:solidFill>
                  <a:srgbClr val="0B0B0B"/>
                </a:solidFill>
                <a:latin typeface="Inter"/>
              </a:defRPr>
            </a:pPr>
            <a:r>
              <a:t>220–320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01568"/>
            <a:ext cx="365760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0B0B0B"/>
                </a:solidFill>
                <a:latin typeface="Inter"/>
              </a:defRPr>
            </a:pPr>
            <a:r>
              <a:t>Processing/hand-off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123944"/>
            <a:ext cx="10744200" cy="6400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261104"/>
            <a:ext cx="256032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FF7A00"/>
                </a:solidFill>
                <a:latin typeface="Inter"/>
              </a:defRPr>
            </a:pPr>
            <a:r>
              <a:t>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242816"/>
            <a:ext cx="256032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1">
                <a:solidFill>
                  <a:srgbClr val="0B0B0B"/>
                </a:solidFill>
                <a:latin typeface="Inter"/>
              </a:defRPr>
            </a:pPr>
            <a:r>
              <a:t>260–450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42816"/>
            <a:ext cx="365760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0B0B0B"/>
                </a:solidFill>
                <a:latin typeface="Inter"/>
              </a:defRPr>
            </a:pPr>
            <a:r>
              <a:t>Action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965192"/>
            <a:ext cx="10744200" cy="64008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102352"/>
            <a:ext cx="256032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600" b="1">
                <a:solidFill>
                  <a:srgbClr val="FF7A00"/>
                </a:solidFill>
                <a:latin typeface="Inter"/>
              </a:defRPr>
            </a:pPr>
            <a:r>
              <a:t>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5084064"/>
            <a:ext cx="256032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1">
                <a:solidFill>
                  <a:srgbClr val="0B0B0B"/>
                </a:solidFill>
                <a:latin typeface="Inter"/>
              </a:defRPr>
            </a:pPr>
            <a:r>
              <a:t>180–260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084064"/>
            <a:ext cx="3657600" cy="338328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0B0B0B"/>
                </a:solidFill>
                <a:latin typeface="Inter"/>
              </a:defRPr>
            </a:pPr>
            <a:r>
              <a:t>Surface recedes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State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Listen → understand → do → confirm.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An illustration is never proof of successful action. A task must explicitly move from intent to confirmation to verified result or recovery.</a:t>
            </a:r>
          </a:p>
        </p:txBody>
      </p:sp>
      <p:pic>
        <p:nvPicPr>
          <p:cNvPr id="9" name="Picture 8" descr="Doddy_pose_po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Reduce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Meaning survives without movement.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Use short fades and explicit text labels when iOS Reduce Motion is enabled. No indefinite flashing, forced audio, or animated state-only signalling.</a:t>
            </a:r>
          </a:p>
        </p:txBody>
      </p:sp>
      <p:pic>
        <p:nvPicPr>
          <p:cNvPr id="9" name="Picture 8" descr="Doddy_pose_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Instagram editorial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44</a:t>
            </a:r>
          </a:p>
        </p:txBody>
      </p:sp>
      <p:pic>
        <p:nvPicPr>
          <p:cNvPr id="7" name="Picture 6" descr="Doddy_instagram_ideas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3337560" cy="3337560"/>
          </a:xfrm>
          <a:prstGeom prst="rect">
            <a:avLst/>
          </a:prstGeom>
        </p:spPr>
      </p:pic>
      <p:pic>
        <p:nvPicPr>
          <p:cNvPr id="8" name="Picture 7" descr="Doddy_instagram_small_steps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600200"/>
            <a:ext cx="3337560" cy="3337560"/>
          </a:xfrm>
          <a:prstGeom prst="rect">
            <a:avLst/>
          </a:prstGeom>
        </p:spPr>
      </p:pic>
      <p:pic>
        <p:nvPicPr>
          <p:cNvPr id="9" name="Picture 8" descr="Doddy_instagram_same_mate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600200"/>
            <a:ext cx="333756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5157216"/>
            <a:ext cx="10972800" cy="4572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0B0B0B"/>
                </a:solidFill>
                <a:latin typeface="Inter"/>
              </a:defRPr>
            </a:pPr>
            <a:r>
              <a:t>Repeatable editorial grid: headline + attitude + character behaviour + one clear idea.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Social at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45</a:t>
            </a:r>
          </a:p>
        </p:txBody>
      </p:sp>
      <p:pic>
        <p:nvPicPr>
          <p:cNvPr id="7" name="Picture 6" descr="Doddy_instagram_idea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3337560" cy="3337560"/>
          </a:xfrm>
          <a:prstGeom prst="rect">
            <a:avLst/>
          </a:prstGeom>
        </p:spPr>
      </p:pic>
      <p:pic>
        <p:nvPicPr>
          <p:cNvPr id="8" name="Picture 7" descr="Doddy_instagram_small_step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600200"/>
            <a:ext cx="3337560" cy="3337560"/>
          </a:xfrm>
          <a:prstGeom prst="rect">
            <a:avLst/>
          </a:prstGeom>
        </p:spPr>
      </p:pic>
      <p:pic>
        <p:nvPicPr>
          <p:cNvPr id="9" name="Picture 8" descr="Doddy_instagram_same_mat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600200"/>
            <a:ext cx="333756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5157216"/>
            <a:ext cx="10972800" cy="4572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700" b="0">
                <a:solidFill>
                  <a:srgbClr val="F7F2E9"/>
                </a:solidFill>
                <a:latin typeface="Inter"/>
              </a:defRPr>
            </a:pPr>
            <a:r>
              <a:t>The same visual vocabulary, ready for nighttime storytelling and app launch moments.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Character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Let everyday problems carry the plot.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Set-up → minor problem → Doddy response → human moment → optional useful app moment. Keep stories worth watching before any product CTA.</a:t>
            </a:r>
          </a:p>
        </p:txBody>
      </p:sp>
      <p:pic>
        <p:nvPicPr>
          <p:cNvPr id="9" name="Picture 8" descr="Doddy_pose_dribb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Content-to-product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Recognition is not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Content introduces the mate. The app has to win on repeat tasks, memory consent, quick invocation and verified utility. Never use views alone as product proof.</a:t>
            </a:r>
          </a:p>
        </p:txBody>
      </p:sp>
      <p:pic>
        <p:nvPicPr>
          <p:cNvPr id="9" name="Picture 8" descr="Doddy_pose_using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Personality must remain legible.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Interface copy ≥16 pt default, reliable contrast, readable transcript, VoiceOver alternative labels, reduced motion, and no colour-only statuses.</a:t>
            </a:r>
          </a:p>
        </p:txBody>
      </p:sp>
      <p:pic>
        <p:nvPicPr>
          <p:cNvPr id="9" name="Picture 8" descr="Doddy_pose_sup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Developer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One JSON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Brand swatches, radii, spacing and default motion durations ship as machine-readable JSON. Resolve semantic contrast at component level.</a:t>
            </a:r>
          </a:p>
        </p:txBody>
      </p:sp>
      <p:pic>
        <p:nvPicPr>
          <p:cNvPr id="9" name="Picture 8" descr="Doddy_pos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Export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Source SVG + practical PNG.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Source SVGs are editable vector geometry. PPTX copy and components are editable; raster illustration previews link to companion SVGs. Do not treat image previews as masters.</a:t>
            </a:r>
          </a:p>
        </p:txBody>
      </p:sp>
      <p:pic>
        <p:nvPicPr>
          <p:cNvPr id="9" name="Picture 8" descr="Doddy_pose_po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Naming and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Make it easy to find the right Doddy.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Assets follow Doddy_&lt;category&gt;_&lt;state&gt;_&lt;theme&gt; naming. Every delivered asset is indexed in ASSET_INVENTORY.csv with SHA-256 and file size.</a:t>
            </a:r>
          </a:p>
        </p:txBody>
      </p:sp>
      <p:pic>
        <p:nvPicPr>
          <p:cNvPr id="9" name="Picture 8" descr="Doddy_pose_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F7F2E9"/>
                </a:solidFill>
                <a:latin typeface="Inter"/>
              </a:defRPr>
            </a:pPr>
            <a:r>
              <a:t>Release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Check actual assets. Not just mockups.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F7F2E9"/>
                </a:solidFill>
                <a:latin typeface="Inter"/>
              </a:defRPr>
            </a:pPr>
            <a:r>
              <a:t>Verify consistent eyes, shoes, pack, background transparency, readable type, generated SVG parsing, GIF playback and PDF/PPTX page counts.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789920" cy="73152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400" b="1">
                <a:solidFill>
                  <a:srgbClr val="0B0B0B"/>
                </a:solidFill>
                <a:latin typeface="Inter"/>
              </a:defRPr>
            </a:pPr>
            <a:r>
              <a:t>Approvals before brand freeze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0B0B0B"/>
                </a:solidFill>
                <a:latin typeface="Inter"/>
              </a:defRPr>
            </a:pPr>
            <a: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704088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900" b="1">
                <a:solidFill>
                  <a:srgbClr val="FF7A00"/>
                </a:solidFill>
                <a:latin typeface="Inter"/>
              </a:defRPr>
            </a:pPr>
            <a:r>
              <a:t>The final artist pass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766560" cy="1371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900" b="0">
                <a:solidFill>
                  <a:srgbClr val="0B0B0B"/>
                </a:solidFill>
                <a:latin typeface="Inter"/>
              </a:defRPr>
            </a:pPr>
            <a:r>
              <a:t>3/4 character view, custom outlined wordmark, organic line-work and finished rig animations require specialist review. This v1.3 package is real and usable, not an unsupported claim of final sign-off.</a:t>
            </a:r>
          </a:p>
        </p:txBody>
      </p:sp>
      <p:pic>
        <p:nvPicPr>
          <p:cNvPr id="9" name="Picture 8" descr="Doddy_pose_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82880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" y="329184"/>
            <a:ext cx="68580" cy="3931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7315200" cy="3200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300" b="1">
                <a:solidFill>
                  <a:srgbClr val="FF7A00"/>
                </a:solidFill>
                <a:latin typeface="Inter"/>
              </a:defRPr>
            </a:pPr>
            <a: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64808"/>
            <a:ext cx="4846320" cy="22860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00" b="1">
                <a:solidFill>
                  <a:srgbClr val="FF7A00"/>
                </a:solidFill>
                <a:latin typeface="Inter"/>
              </a:defRPr>
            </a:pPr>
            <a:r>
              <a:t>Doddy  /  Brand Guidelines v1.3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65408" y="6446520"/>
            <a:ext cx="438912" cy="237744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100" b="1">
                <a:solidFill>
                  <a:srgbClr val="F7F2E9"/>
                </a:solidFill>
                <a:latin typeface="Inter"/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9144000" cy="132588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10400" b="1">
                <a:solidFill>
                  <a:srgbClr val="FF7A00"/>
                </a:solidFill>
                <a:latin typeface="Inter"/>
              </a:defRPr>
            </a:pPr>
            <a:r>
              <a:t>Doddy.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273552"/>
            <a:ext cx="9144000" cy="1005840"/>
          </a:xfrm>
          <a:prstGeom prst="rect">
            <a:avLst/>
          </a:prstGeom>
          <a:noFill/>
        </p:spPr>
        <p:txBody>
          <a:bodyPr wrap="square" lIns="13716" rIns="13716" tIns="13716" bIns="13716">
            <a:spAutoFit/>
          </a:bodyPr>
          <a:lstStyle/>
          <a:p>
            <a:pPr>
              <a:lnSpc>
                <a:spcPct val="110000"/>
              </a:lnSpc>
              <a:defRPr sz="3800" b="1">
                <a:solidFill>
                  <a:srgbClr val="F7F2E9"/>
                </a:solidFill>
                <a:latin typeface="Inter"/>
              </a:defRPr>
            </a:pPr>
            <a:r>
              <a:t>Your mate in your pocket.</a:t>
            </a:r>
          </a:p>
        </p:txBody>
      </p:sp>
      <p:pic>
        <p:nvPicPr>
          <p:cNvPr id="8" name="Picture 7" descr="Doddy_master_w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87552"/>
            <a:ext cx="3108960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